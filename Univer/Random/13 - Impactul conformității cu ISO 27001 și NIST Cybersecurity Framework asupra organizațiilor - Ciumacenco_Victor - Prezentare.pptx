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sldIdLst>
    <p:sldId id="256" r:id="rId2"/>
    <p:sldId id="257" r:id="rId3"/>
    <p:sldId id="258" r:id="rId4"/>
    <p:sldId id="264" r:id="rId5"/>
    <p:sldId id="269" r:id="rId6"/>
    <p:sldId id="266" r:id="rId7"/>
    <p:sldId id="267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A55B4-CD87-F33C-BABC-E0306B9E8B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1095FA-C178-7DD8-5715-F05DE65814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1E784C-7105-D4F8-36A9-4C36EA20B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D254-23CA-4DBD-AEEC-927BF7919A67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C3C983-95C7-41AD-2994-8B4B08B10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A6518-81BC-12CF-869A-67034C809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3E7FA-9900-4F30-8D65-5E231A80C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905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41450-4301-6D12-C17D-19632C0CD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F2517-E12D-F90F-15B9-97C9C661FC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C404F-CD10-BF68-D285-C594C50F5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D254-23CA-4DBD-AEEC-927BF7919A67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351CC9-89C3-64C0-831F-BA2948F70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7872F9-BBB2-DBD5-5AB1-242E9F0A7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3E7FA-9900-4F30-8D65-5E231A80C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479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80B44-3A06-6D50-9471-F10B4BBF8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7FE01-F903-7E7B-A0C2-55688CFB59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995B45-A1B6-F36F-B240-042E316DE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D254-23CA-4DBD-AEEC-927BF7919A67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B8ED7-805E-74A4-1C33-F36F7A415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3B22E-A12F-2EC0-3446-BD74D44AF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3E7FA-9900-4F30-8D65-5E231A80C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039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F05FD-415E-F2B6-AB22-D4FC337E5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28911-F05E-8C65-51DB-6455D72329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9764B9-BCED-EBC3-46DA-CCEF263808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B7864-71B5-3782-0BF6-335B9E720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D254-23CA-4DBD-AEEC-927BF7919A67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E70C77-C7B8-F167-BA1F-25843C5E0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1895C0-052C-5BAE-333A-1C1A841E4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3E7FA-9900-4F30-8D65-5E231A80C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791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88E9E-F2F2-20D5-F5A5-8D7C994E2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7E720C-847C-3500-1C74-843C968D38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B870AE-307E-10E4-89AC-DC701BFA71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40740F-F579-8C82-964E-5B925B10FB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26C664-E9E8-F4BD-455A-5D9C1E62B1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75FC08-2054-E700-E140-ABABAF9D9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D254-23CA-4DBD-AEEC-927BF7919A67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35B485-4E38-9113-0E07-286FD4C08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052AE0-57F5-EEB6-E83F-AC205C628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3E7FA-9900-4F30-8D65-5E231A80C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912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17EA2-F60F-D2CF-8B89-C26F6ACD1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0B2151-8EF7-2CE8-879F-A4B49315F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D254-23CA-4DBD-AEEC-927BF7919A67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19E946-53A0-CA26-A214-62EB437CC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FB831A-51F4-2EDA-19C5-1DB4DFBAF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3E7FA-9900-4F30-8D65-5E231A80C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118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1AB5BF-6401-4B70-2B48-8D75106CF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D254-23CA-4DBD-AEEC-927BF7919A67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6BEDD9-ABBC-ED20-B1D8-4717B7095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DC84BC-F006-9E21-852B-C48617C56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3E7FA-9900-4F30-8D65-5E231A80C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374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CD8B8-0015-8B23-F417-BE32D97D0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40E44-590D-918D-1CFA-6FC1173EF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FA0FC8-1237-2655-0031-B652573B5E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3B69E7-E979-64B4-DF76-5558C388A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D254-23CA-4DBD-AEEC-927BF7919A67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84BB8D-A4C5-5848-0701-32FAE9369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FE9345-CE08-9092-5129-829BE2604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3E7FA-9900-4F30-8D65-5E231A80C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140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A7DC9-AC8E-1436-D9A4-35B5FEDE4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BA3D99-2C48-6B4E-1553-EBF17AA46A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A13C9C-2F1D-CE2D-6AB8-9158D07903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5F0564-9A5D-791C-6EC6-2CC7E5778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D254-23CA-4DBD-AEEC-927BF7919A67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52FF8C-3712-A07C-E6F9-A31528F32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ECDBB2-E55F-64FF-D7A2-75756C76C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3E7FA-9900-4F30-8D65-5E231A80C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133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F39DE-352C-3124-A290-9903F01B2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E9A08E-6D8F-41EE-D87B-5058EDF0AA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A0E358-45FA-3685-73EF-9F46A9443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D254-23CA-4DBD-AEEC-927BF7919A67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48E911-DD19-BEF7-315C-29532C927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6DC06-EA0C-740E-0583-7520ECCE3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3E7FA-9900-4F30-8D65-5E231A80C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01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E05B5D-AF00-3F51-A53A-15E9DFD91B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BA9382-AA67-B308-383B-4175CA0059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6CDDBD-30BD-E05E-DBFB-C0878AD90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D254-23CA-4DBD-AEEC-927BF7919A67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E00E03-0567-163F-C502-F73F55B8B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F0345B-C6BC-59AE-4C14-42F33954F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3E7FA-9900-4F30-8D65-5E231A80C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30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0D3746-7166-A0E7-003F-91355C221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F69FB4-826D-A718-D2C8-D516E22CCD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5DBFCE-78FE-1A29-58ED-73592D8E4A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A3D254-23CA-4DBD-AEEC-927BF7919A67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EB95C0-11A8-B0B0-1306-18A7A8C21B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4EC9A7-28B7-68EA-9468-7D38848641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73E7FA-9900-4F30-8D65-5E231A80C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570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9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EF529C6-A9BF-BCBF-E223-6447B8012AD9}"/>
              </a:ext>
            </a:extLst>
          </p:cNvPr>
          <p:cNvSpPr/>
          <p:nvPr/>
        </p:nvSpPr>
        <p:spPr>
          <a:xfrm>
            <a:off x="1524000" y="2397060"/>
            <a:ext cx="9144000" cy="1031939"/>
          </a:xfrm>
          <a:prstGeom prst="round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ACA7F8-B587-CE85-D9FC-A2A475BEC5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66345"/>
            <a:ext cx="9144000" cy="1031939"/>
          </a:xfrm>
        </p:spPr>
        <p:txBody>
          <a:bodyPr>
            <a:normAutofit/>
          </a:bodyPr>
          <a:lstStyle/>
          <a:p>
            <a:r>
              <a:rPr lang="ro-RO" sz="2400" b="1" dirty="0">
                <a:solidFill>
                  <a:schemeClr val="bg1"/>
                </a:solidFill>
                <a:latin typeface="Caladea" panose="0204050305040603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Impactul conformității cu ISO 27001 și NIST Cybersecurity Framework asupra organizațiilor</a:t>
            </a:r>
            <a:endParaRPr lang="en-US" sz="2400" dirty="0">
              <a:solidFill>
                <a:schemeClr val="bg1"/>
              </a:solidFill>
              <a:latin typeface="Caladea" panose="020405030504060302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229D9F-053D-D8D8-570C-4862F9FC82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Student: Ciumacenco Victor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Anul 3, Sec</a:t>
            </a:r>
            <a:r>
              <a:rPr lang="ro-RO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ția TI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Coordonator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GB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As.Drd.Ing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Bianca Gu</a:t>
            </a:r>
            <a:r>
              <a:rPr lang="ro-RO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șiță</a:t>
            </a:r>
          </a:p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EFA3B6-9A0F-7560-64B5-06BA5FE2F4C7}"/>
              </a:ext>
            </a:extLst>
          </p:cNvPr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gradFill>
            <a:gsLst>
              <a:gs pos="0">
                <a:schemeClr val="tx1">
                  <a:lumMod val="50000"/>
                  <a:lumOff val="50000"/>
                </a:schemeClr>
              </a:gs>
              <a:gs pos="3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3FF23444-EE57-7679-BD32-97730032B3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6034" y="6329541"/>
            <a:ext cx="735965" cy="25146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97C821E-372F-F978-AA54-46F7840D054D}"/>
              </a:ext>
            </a:extLst>
          </p:cNvPr>
          <p:cNvSpPr/>
          <p:nvPr/>
        </p:nvSpPr>
        <p:spPr>
          <a:xfrm>
            <a:off x="0" y="6581001"/>
            <a:ext cx="4738255" cy="276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01BA3E-0DCB-6A2E-F173-314AACEC712E}"/>
              </a:ext>
            </a:extLst>
          </p:cNvPr>
          <p:cNvSpPr/>
          <p:nvPr/>
        </p:nvSpPr>
        <p:spPr>
          <a:xfrm>
            <a:off x="4738255" y="6581001"/>
            <a:ext cx="7453745" cy="277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46BEAC-1BE8-B50B-6DFF-B1BB69BB78D6}"/>
              </a:ext>
            </a:extLst>
          </p:cNvPr>
          <p:cNvSpPr txBox="1"/>
          <p:nvPr/>
        </p:nvSpPr>
        <p:spPr>
          <a:xfrm>
            <a:off x="1" y="6581001"/>
            <a:ext cx="4738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Ciumacenco Victor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74FCD1-DF41-943B-CBE8-1DC61D135703}"/>
              </a:ext>
            </a:extLst>
          </p:cNvPr>
          <p:cNvSpPr txBox="1"/>
          <p:nvPr/>
        </p:nvSpPr>
        <p:spPr>
          <a:xfrm>
            <a:off x="4738256" y="6588786"/>
            <a:ext cx="7453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Coordonator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GB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As.Drd.Ing</a:t>
            </a:r>
            <a:r>
              <a:rPr lang="en-GB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Bianca Gu</a:t>
            </a:r>
            <a:r>
              <a:rPr lang="ro-RO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șiță</a:t>
            </a:r>
          </a:p>
        </p:txBody>
      </p:sp>
    </p:spTree>
    <p:extLst>
      <p:ext uri="{BB962C8B-B14F-4D97-AF65-F5344CB8AC3E}">
        <p14:creationId xmlns:p14="http://schemas.microsoft.com/office/powerpoint/2010/main" val="2070201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CB2BC59-902D-4391-821E-FAD11836F1B1}"/>
              </a:ext>
            </a:extLst>
          </p:cNvPr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gradFill flip="none" rotWithShape="1">
            <a:gsLst>
              <a:gs pos="0">
                <a:srgbClr val="002060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0" scaled="1"/>
            <a:tileRect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9B9110-131E-92A4-185C-3D1E5BA54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0"/>
            <a:ext cx="3932237" cy="566929"/>
          </a:xfrm>
        </p:spPr>
        <p:txBody>
          <a:bodyPr>
            <a:normAutofit/>
          </a:bodyPr>
          <a:lstStyle/>
          <a:p>
            <a:r>
              <a:rPr lang="en-US" sz="2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Cuprins</a:t>
            </a:r>
            <a:endParaRPr lang="en-US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C011B1-BC0A-2A33-F466-C7FE4994BA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29867" y="1928608"/>
            <a:ext cx="9332265" cy="3286262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 err="1"/>
              <a:t>Introducere</a:t>
            </a: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 err="1"/>
              <a:t>Fundamente</a:t>
            </a:r>
            <a:r>
              <a:rPr lang="en-US" sz="2000" dirty="0"/>
              <a:t> </a:t>
            </a:r>
            <a:r>
              <a:rPr lang="en-US" sz="2000" dirty="0" err="1"/>
              <a:t>teoretice</a:t>
            </a: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Analiza </a:t>
            </a:r>
            <a:r>
              <a:rPr lang="en-US" sz="2000" dirty="0" err="1"/>
              <a:t>amenințărilor</a:t>
            </a:r>
            <a:r>
              <a:rPr lang="en-US" sz="2000" dirty="0"/>
              <a:t> </a:t>
            </a:r>
            <a:r>
              <a:rPr lang="en-US" sz="2000" dirty="0" err="1"/>
              <a:t>și</a:t>
            </a:r>
            <a:r>
              <a:rPr lang="en-US" sz="2000" dirty="0"/>
              <a:t> </a:t>
            </a:r>
            <a:r>
              <a:rPr lang="en-US" sz="2000" dirty="0" err="1"/>
              <a:t>vulnerabilităților</a:t>
            </a: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 err="1"/>
              <a:t>Mecanisme</a:t>
            </a:r>
            <a:r>
              <a:rPr lang="en-US" sz="2000" dirty="0"/>
              <a:t> de </a:t>
            </a:r>
            <a:r>
              <a:rPr lang="en-US" sz="2000" dirty="0" err="1"/>
              <a:t>protecție</a:t>
            </a:r>
            <a:r>
              <a:rPr lang="en-US" sz="2000" dirty="0"/>
              <a:t> </a:t>
            </a:r>
            <a:r>
              <a:rPr lang="en-US" sz="2000" dirty="0" err="1"/>
              <a:t>și</a:t>
            </a:r>
            <a:r>
              <a:rPr lang="en-US" sz="2000" dirty="0"/>
              <a:t> </a:t>
            </a:r>
            <a:r>
              <a:rPr lang="en-US" sz="2000" dirty="0" err="1"/>
              <a:t>soluții</a:t>
            </a: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 err="1"/>
              <a:t>Studiu</a:t>
            </a:r>
            <a:r>
              <a:rPr lang="en-US" sz="2000" dirty="0"/>
              <a:t> de </a:t>
            </a:r>
            <a:r>
              <a:rPr lang="en-US" sz="2000" dirty="0" err="1"/>
              <a:t>caz</a:t>
            </a:r>
            <a:r>
              <a:rPr lang="en-US" sz="2000" dirty="0"/>
              <a:t>: Colonial Pipeline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err="1"/>
              <a:t>Provocări</a:t>
            </a:r>
            <a:r>
              <a:rPr lang="en-US" sz="2000" dirty="0"/>
              <a:t> </a:t>
            </a:r>
            <a:r>
              <a:rPr lang="en-US" sz="2000" dirty="0" err="1"/>
              <a:t>actuale</a:t>
            </a:r>
            <a:r>
              <a:rPr lang="en-US" sz="2000" dirty="0"/>
              <a:t> </a:t>
            </a:r>
            <a:r>
              <a:rPr lang="en-US" sz="2000" dirty="0" err="1"/>
              <a:t>și</a:t>
            </a:r>
            <a:r>
              <a:rPr lang="en-US" sz="2000" dirty="0"/>
              <a:t> </a:t>
            </a:r>
            <a:r>
              <a:rPr lang="en-US" sz="2000" dirty="0" err="1"/>
              <a:t>direcții</a:t>
            </a:r>
            <a:r>
              <a:rPr lang="en-US" sz="2000" dirty="0"/>
              <a:t> </a:t>
            </a:r>
            <a:r>
              <a:rPr lang="en-US" sz="2000" dirty="0" err="1"/>
              <a:t>viitoare</a:t>
            </a: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 err="1"/>
              <a:t>Concluzii</a:t>
            </a:r>
            <a:endParaRPr lang="en-US" sz="2000" dirty="0"/>
          </a:p>
        </p:txBody>
      </p:sp>
      <p:pic>
        <p:nvPicPr>
          <p:cNvPr id="16" name="Picture 15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079881FB-9804-D187-E2F0-895C5A6650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6034" y="6329541"/>
            <a:ext cx="735965" cy="25146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52689364-B4D6-0443-4A96-E9E40964CCF0}"/>
              </a:ext>
            </a:extLst>
          </p:cNvPr>
          <p:cNvSpPr/>
          <p:nvPr/>
        </p:nvSpPr>
        <p:spPr>
          <a:xfrm>
            <a:off x="4738255" y="6581001"/>
            <a:ext cx="7453745" cy="277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143D24-3794-F25F-A216-29849526E99C}"/>
              </a:ext>
            </a:extLst>
          </p:cNvPr>
          <p:cNvSpPr txBox="1"/>
          <p:nvPr/>
        </p:nvSpPr>
        <p:spPr>
          <a:xfrm>
            <a:off x="4738256" y="6588786"/>
            <a:ext cx="7453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Coordonator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GB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As.Drd.Ing</a:t>
            </a:r>
            <a:r>
              <a:rPr lang="en-GB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Bianca Gu</a:t>
            </a:r>
            <a:r>
              <a:rPr lang="ro-RO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șiță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5156B84-7782-3471-F49D-0D9645F3F6AA}"/>
              </a:ext>
            </a:extLst>
          </p:cNvPr>
          <p:cNvSpPr/>
          <p:nvPr/>
        </p:nvSpPr>
        <p:spPr>
          <a:xfrm>
            <a:off x="0" y="6581001"/>
            <a:ext cx="4738255" cy="276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53E1216-5BE1-4E8B-2894-25226D3E1AAB}"/>
              </a:ext>
            </a:extLst>
          </p:cNvPr>
          <p:cNvSpPr txBox="1"/>
          <p:nvPr/>
        </p:nvSpPr>
        <p:spPr>
          <a:xfrm>
            <a:off x="1" y="6581001"/>
            <a:ext cx="4738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Ciumacenco Victor</a:t>
            </a:r>
          </a:p>
        </p:txBody>
      </p:sp>
    </p:spTree>
    <p:extLst>
      <p:ext uri="{BB962C8B-B14F-4D97-AF65-F5344CB8AC3E}">
        <p14:creationId xmlns:p14="http://schemas.microsoft.com/office/powerpoint/2010/main" val="2622126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373A7-6383-E97C-27EC-1FFDFF54F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FE14CFD-A238-86D3-0922-0C8FC38D0474}"/>
              </a:ext>
            </a:extLst>
          </p:cNvPr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gradFill flip="none" rotWithShape="1">
            <a:gsLst>
              <a:gs pos="0">
                <a:srgbClr val="002060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0" scaled="1"/>
            <a:tileRect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56687A-331F-D96A-CF73-6371A07F6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0"/>
            <a:ext cx="3932237" cy="566929"/>
          </a:xfrm>
        </p:spPr>
        <p:txBody>
          <a:bodyPr>
            <a:normAutofit/>
          </a:bodyPr>
          <a:lstStyle/>
          <a:p>
            <a:r>
              <a:rPr lang="ro-RO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2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Introducere</a:t>
            </a:r>
            <a:endParaRPr lang="en-US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3C5160-F531-FE7B-C5C3-090C9F77B1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10123776" cy="3811588"/>
          </a:xfrm>
        </p:spPr>
        <p:txBody>
          <a:bodyPr>
            <a:normAutofit/>
          </a:bodyPr>
          <a:lstStyle/>
          <a:p>
            <a:r>
              <a:rPr lang="en-US" sz="2000" b="1" dirty="0"/>
              <a:t>Context:</a:t>
            </a:r>
            <a:r>
              <a:rPr lang="en-US" sz="2000" dirty="0"/>
              <a:t> </a:t>
            </a:r>
            <a:r>
              <a:rPr lang="en-US" sz="2000" dirty="0" err="1"/>
              <a:t>Digitalizarea</a:t>
            </a:r>
            <a:r>
              <a:rPr lang="en-US" sz="2000" dirty="0"/>
              <a:t> </a:t>
            </a:r>
            <a:r>
              <a:rPr lang="en-US" sz="2000" dirty="0" err="1"/>
              <a:t>accelerată</a:t>
            </a:r>
            <a:r>
              <a:rPr lang="en-US" sz="2000" dirty="0"/>
              <a:t>, cloud, IoT </a:t>
            </a:r>
            <a:r>
              <a:rPr lang="en-US" sz="2000" dirty="0" err="1"/>
              <a:t>și</a:t>
            </a:r>
            <a:r>
              <a:rPr lang="en-US" sz="2000" dirty="0"/>
              <a:t> </a:t>
            </a:r>
            <a:r>
              <a:rPr lang="en-US" sz="2000" dirty="0" err="1"/>
              <a:t>convergența</a:t>
            </a:r>
            <a:r>
              <a:rPr lang="en-US" sz="2000" dirty="0"/>
              <a:t> IT/OT </a:t>
            </a:r>
            <a:r>
              <a:rPr lang="en-US" sz="2000" dirty="0" err="1"/>
              <a:t>extind</a:t>
            </a:r>
            <a:r>
              <a:rPr lang="en-US" sz="2000" dirty="0"/>
              <a:t> </a:t>
            </a:r>
            <a:r>
              <a:rPr lang="en-US" sz="2000" dirty="0" err="1"/>
              <a:t>masiv</a:t>
            </a:r>
            <a:r>
              <a:rPr lang="en-US" sz="2000" dirty="0"/>
              <a:t> </a:t>
            </a:r>
            <a:r>
              <a:rPr lang="en-US" sz="2000" dirty="0" err="1"/>
              <a:t>suprafața</a:t>
            </a:r>
            <a:r>
              <a:rPr lang="en-US" sz="2000" dirty="0"/>
              <a:t> de </a:t>
            </a:r>
            <a:r>
              <a:rPr lang="en-US" sz="2000" dirty="0" err="1"/>
              <a:t>atac</a:t>
            </a:r>
            <a:r>
              <a:rPr lang="en-US" sz="2000" dirty="0"/>
              <a:t>.</a:t>
            </a:r>
          </a:p>
          <a:p>
            <a:r>
              <a:rPr lang="en-US" sz="2000" b="1" dirty="0" err="1"/>
              <a:t>Problema</a:t>
            </a:r>
            <a:r>
              <a:rPr lang="en-US" sz="2000" b="1" dirty="0"/>
              <a:t> </a:t>
            </a:r>
            <a:r>
              <a:rPr lang="en-US" sz="2000" b="1" dirty="0" err="1"/>
              <a:t>centrală</a:t>
            </a:r>
            <a:r>
              <a:rPr lang="en-US" sz="2000" b="1" dirty="0"/>
              <a:t>:</a:t>
            </a:r>
            <a:r>
              <a:rPr lang="en-US" sz="2000" dirty="0"/>
              <a:t> </a:t>
            </a:r>
            <a:r>
              <a:rPr lang="en-US" sz="2000" dirty="0" err="1"/>
              <a:t>Implementarea</a:t>
            </a:r>
            <a:r>
              <a:rPr lang="en-US" sz="2000" dirty="0"/>
              <a:t> </a:t>
            </a:r>
            <a:r>
              <a:rPr lang="en-US" sz="2000" dirty="0" err="1"/>
              <a:t>unei</a:t>
            </a:r>
            <a:r>
              <a:rPr lang="en-US" sz="2000" dirty="0"/>
              <a:t> </a:t>
            </a:r>
            <a:r>
              <a:rPr lang="en-US" sz="2000" dirty="0" err="1"/>
              <a:t>protecții</a:t>
            </a:r>
            <a:r>
              <a:rPr lang="en-US" sz="2000" dirty="0"/>
              <a:t> </a:t>
            </a:r>
            <a:r>
              <a:rPr lang="en-US" sz="2000" dirty="0" err="1"/>
              <a:t>robuste</a:t>
            </a:r>
            <a:r>
              <a:rPr lang="en-US" sz="2000" dirty="0"/>
              <a:t> cu </a:t>
            </a:r>
            <a:r>
              <a:rPr lang="en-US" sz="2000" dirty="0" err="1"/>
              <a:t>resurse</a:t>
            </a:r>
            <a:r>
              <a:rPr lang="en-US" sz="2000" dirty="0"/>
              <a:t> </a:t>
            </a:r>
            <a:r>
              <a:rPr lang="en-US" sz="2000" dirty="0" err="1"/>
              <a:t>limitate</a:t>
            </a:r>
            <a:r>
              <a:rPr lang="en-US" sz="2000" dirty="0"/>
              <a:t> </a:t>
            </a:r>
            <a:r>
              <a:rPr lang="en-US" sz="2000" dirty="0" err="1"/>
              <a:t>și</a:t>
            </a:r>
            <a:r>
              <a:rPr lang="en-US" sz="2000" dirty="0"/>
              <a:t> sub </a:t>
            </a:r>
            <a:r>
              <a:rPr lang="en-US" sz="2000" dirty="0" err="1"/>
              <a:t>presiunea</a:t>
            </a:r>
            <a:r>
              <a:rPr lang="en-US" sz="2000" dirty="0"/>
              <a:t> </a:t>
            </a:r>
            <a:r>
              <a:rPr lang="en-US" sz="2000" dirty="0" err="1"/>
              <a:t>reglementărilor</a:t>
            </a:r>
            <a:r>
              <a:rPr lang="en-US" sz="2000" dirty="0"/>
              <a:t> legislative (ex: </a:t>
            </a:r>
            <a:r>
              <a:rPr lang="en-US" sz="2000" dirty="0" err="1"/>
              <a:t>Directiva</a:t>
            </a:r>
            <a:r>
              <a:rPr lang="en-US" sz="2000" dirty="0"/>
              <a:t> NIS2).</a:t>
            </a:r>
          </a:p>
          <a:p>
            <a:r>
              <a:rPr lang="en-US" sz="2000" b="1" dirty="0" err="1"/>
              <a:t>Obiective</a:t>
            </a:r>
            <a:r>
              <a:rPr lang="en-US" sz="2000" b="1" dirty="0"/>
              <a:t>:</a:t>
            </a:r>
            <a:r>
              <a:rPr lang="en-US" sz="2000" dirty="0"/>
              <a:t> Analiza </a:t>
            </a:r>
            <a:r>
              <a:rPr lang="en-US" sz="2000" dirty="0" err="1"/>
              <a:t>teoretică</a:t>
            </a:r>
            <a:r>
              <a:rPr lang="en-US" sz="2000" dirty="0"/>
              <a:t> a </a:t>
            </a:r>
            <a:r>
              <a:rPr lang="en-US" sz="2000" dirty="0" err="1"/>
              <a:t>cadrelor</a:t>
            </a:r>
            <a:r>
              <a:rPr lang="en-US" sz="2000" dirty="0"/>
              <a:t> ISO 27001 </a:t>
            </a:r>
            <a:r>
              <a:rPr lang="en-US" sz="2000" dirty="0" err="1"/>
              <a:t>și</a:t>
            </a:r>
            <a:r>
              <a:rPr lang="en-US" sz="2000" dirty="0"/>
              <a:t> NIST CSF, </a:t>
            </a:r>
            <a:r>
              <a:rPr lang="en-US" sz="2000" dirty="0" err="1"/>
              <a:t>evaluarea</a:t>
            </a:r>
            <a:r>
              <a:rPr lang="en-US" sz="2000" dirty="0"/>
              <a:t> </a:t>
            </a:r>
            <a:r>
              <a:rPr lang="en-US" sz="2000" dirty="0" err="1"/>
              <a:t>amenințărilor</a:t>
            </a:r>
            <a:r>
              <a:rPr lang="en-US" sz="2000" dirty="0"/>
              <a:t> </a:t>
            </a:r>
            <a:r>
              <a:rPr lang="en-US" sz="2000" dirty="0" err="1"/>
              <a:t>curente</a:t>
            </a:r>
            <a:r>
              <a:rPr lang="en-US" sz="2000" dirty="0"/>
              <a:t> </a:t>
            </a:r>
            <a:r>
              <a:rPr lang="en-US" sz="2000" dirty="0" err="1"/>
              <a:t>și</a:t>
            </a:r>
            <a:r>
              <a:rPr lang="en-US" sz="2000" dirty="0"/>
              <a:t> </a:t>
            </a:r>
            <a:r>
              <a:rPr lang="en-US" sz="2000" dirty="0" err="1"/>
              <a:t>detalierea</a:t>
            </a:r>
            <a:r>
              <a:rPr lang="en-US" sz="2000" dirty="0"/>
              <a:t> </a:t>
            </a:r>
            <a:r>
              <a:rPr lang="en-US" sz="2000" dirty="0" err="1"/>
              <a:t>mecanismelor</a:t>
            </a:r>
            <a:r>
              <a:rPr lang="en-US" sz="2000" dirty="0"/>
              <a:t> de </a:t>
            </a:r>
            <a:r>
              <a:rPr lang="en-US" sz="2000" dirty="0" err="1"/>
              <a:t>protecție</a:t>
            </a:r>
            <a:r>
              <a:rPr lang="en-US" sz="2000" dirty="0"/>
              <a:t> </a:t>
            </a:r>
            <a:r>
              <a:rPr lang="en-US" sz="2000" dirty="0" err="1"/>
              <a:t>prin</a:t>
            </a:r>
            <a:r>
              <a:rPr lang="en-US" sz="2000" dirty="0"/>
              <a:t> </a:t>
            </a:r>
            <a:r>
              <a:rPr lang="en-US" sz="2000" dirty="0" err="1"/>
              <a:t>intermediul</a:t>
            </a:r>
            <a:r>
              <a:rPr lang="en-US" sz="2000" dirty="0"/>
              <a:t> </a:t>
            </a:r>
            <a:r>
              <a:rPr lang="en-US" sz="2000" dirty="0" err="1"/>
              <a:t>unui</a:t>
            </a:r>
            <a:r>
              <a:rPr lang="en-US" sz="2000" dirty="0"/>
              <a:t> </a:t>
            </a:r>
            <a:r>
              <a:rPr lang="en-US" sz="2000" dirty="0" err="1"/>
              <a:t>studiu</a:t>
            </a:r>
            <a:r>
              <a:rPr lang="en-US" sz="2000" dirty="0"/>
              <a:t> de </a:t>
            </a:r>
            <a:r>
              <a:rPr lang="en-US" sz="2000" dirty="0" err="1"/>
              <a:t>caz</a:t>
            </a:r>
            <a:r>
              <a:rPr lang="en-US" sz="2000" dirty="0"/>
              <a:t>.</a:t>
            </a:r>
          </a:p>
        </p:txBody>
      </p:sp>
      <p:pic>
        <p:nvPicPr>
          <p:cNvPr id="10" name="Picture 9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E2BFE7AF-040F-0123-4E59-A14620B3C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6034" y="6329541"/>
            <a:ext cx="735965" cy="25146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7EB1BD5-0B2E-BAFD-34FE-F00B9B51EED3}"/>
              </a:ext>
            </a:extLst>
          </p:cNvPr>
          <p:cNvSpPr/>
          <p:nvPr/>
        </p:nvSpPr>
        <p:spPr>
          <a:xfrm>
            <a:off x="4738255" y="6581001"/>
            <a:ext cx="7453745" cy="277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09650B-2002-4AC5-C841-AF24BBC51815}"/>
              </a:ext>
            </a:extLst>
          </p:cNvPr>
          <p:cNvSpPr txBox="1"/>
          <p:nvPr/>
        </p:nvSpPr>
        <p:spPr>
          <a:xfrm>
            <a:off x="4738256" y="6588786"/>
            <a:ext cx="7453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Coordonator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GB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As.Drd.Ing</a:t>
            </a:r>
            <a:r>
              <a:rPr lang="en-GB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Bianca Gu</a:t>
            </a:r>
            <a:r>
              <a:rPr lang="ro-RO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șiță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35A926-E96C-2A1B-6277-EDA9CE47BE28}"/>
              </a:ext>
            </a:extLst>
          </p:cNvPr>
          <p:cNvSpPr/>
          <p:nvPr/>
        </p:nvSpPr>
        <p:spPr>
          <a:xfrm>
            <a:off x="0" y="6581001"/>
            <a:ext cx="4738255" cy="276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028CD9-9092-21BA-9A44-91D1201209C2}"/>
              </a:ext>
            </a:extLst>
          </p:cNvPr>
          <p:cNvSpPr txBox="1"/>
          <p:nvPr/>
        </p:nvSpPr>
        <p:spPr>
          <a:xfrm>
            <a:off x="1" y="6581001"/>
            <a:ext cx="4738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Ciumacenco Victor</a:t>
            </a:r>
          </a:p>
        </p:txBody>
      </p:sp>
    </p:spTree>
    <p:extLst>
      <p:ext uri="{BB962C8B-B14F-4D97-AF65-F5344CB8AC3E}">
        <p14:creationId xmlns:p14="http://schemas.microsoft.com/office/powerpoint/2010/main" val="1884507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3C0E-49D8-46D8-55F3-4EB07A751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5564174-0BD1-A157-7514-48C9547207EB}"/>
              </a:ext>
            </a:extLst>
          </p:cNvPr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002060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B2273C-81FC-7455-54F2-56543018F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0"/>
            <a:ext cx="7140431" cy="566929"/>
          </a:xfrm>
        </p:spPr>
        <p:txBody>
          <a:bodyPr>
            <a:normAutofit/>
          </a:bodyPr>
          <a:lstStyle/>
          <a:p>
            <a:r>
              <a:rPr lang="ro-RO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2.1 Fundamente teoretice</a:t>
            </a:r>
            <a:endParaRPr lang="en-US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CEDDEC-4B46-BBC3-DD85-6532836C20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7080" y="1544500"/>
            <a:ext cx="6942138" cy="1744981"/>
          </a:xfrm>
        </p:spPr>
        <p:txBody>
          <a:bodyPr>
            <a:normAutofit/>
          </a:bodyPr>
          <a:lstStyle/>
          <a:p>
            <a:r>
              <a:rPr lang="en-US" b="1" dirty="0"/>
              <a:t>ISO/IEC 27001:2022:</a:t>
            </a:r>
            <a:r>
              <a:rPr lang="en-US" dirty="0"/>
              <a:t> Standard </a:t>
            </a:r>
            <a:r>
              <a:rPr lang="en-US" dirty="0" err="1"/>
              <a:t>internațional</a:t>
            </a:r>
            <a:r>
              <a:rPr lang="en-US" dirty="0"/>
              <a:t> </a:t>
            </a:r>
            <a:r>
              <a:rPr lang="en-US" dirty="0" err="1"/>
              <a:t>normativ</a:t>
            </a:r>
            <a:r>
              <a:rPr lang="en-US" dirty="0"/>
              <a:t>, </a:t>
            </a:r>
            <a:r>
              <a:rPr lang="en-US" dirty="0" err="1"/>
              <a:t>certificabil</a:t>
            </a:r>
            <a:r>
              <a:rPr lang="en-US" dirty="0"/>
              <a:t>. Scop: </a:t>
            </a:r>
            <a:r>
              <a:rPr lang="en-US" dirty="0" err="1"/>
              <a:t>Stabilirea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de Management (ISMS). </a:t>
            </a:r>
            <a:r>
              <a:rPr lang="en-US" dirty="0" err="1"/>
              <a:t>Structură</a:t>
            </a:r>
            <a:r>
              <a:rPr lang="en-US" dirty="0"/>
              <a:t>: 10 </a:t>
            </a:r>
            <a:r>
              <a:rPr lang="en-US" dirty="0" err="1"/>
              <a:t>clauze</a:t>
            </a:r>
            <a:r>
              <a:rPr lang="en-US" dirty="0"/>
              <a:t> </a:t>
            </a:r>
            <a:r>
              <a:rPr lang="en-US" dirty="0" err="1"/>
              <a:t>obligatorii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Anexa</a:t>
            </a:r>
            <a:r>
              <a:rPr lang="en-US" dirty="0"/>
              <a:t> A (93 de </a:t>
            </a:r>
            <a:r>
              <a:rPr lang="en-US" dirty="0" err="1"/>
              <a:t>controale</a:t>
            </a:r>
            <a:r>
              <a:rPr lang="en-US" dirty="0"/>
              <a:t> pe 4 </a:t>
            </a:r>
            <a:r>
              <a:rPr lang="en-US" dirty="0" err="1"/>
              <a:t>teme</a:t>
            </a:r>
            <a:r>
              <a:rPr lang="en-US" dirty="0"/>
              <a:t>: </a:t>
            </a:r>
            <a:r>
              <a:rPr lang="en-US" dirty="0" err="1"/>
              <a:t>organizaționale</a:t>
            </a:r>
            <a:r>
              <a:rPr lang="en-US" dirty="0"/>
              <a:t>, </a:t>
            </a:r>
            <a:r>
              <a:rPr lang="en-US" dirty="0" err="1"/>
              <a:t>oameni</a:t>
            </a:r>
            <a:r>
              <a:rPr lang="en-US" dirty="0"/>
              <a:t>, </a:t>
            </a:r>
            <a:r>
              <a:rPr lang="en-US" dirty="0" err="1"/>
              <a:t>fizice</a:t>
            </a:r>
            <a:r>
              <a:rPr lang="en-US" dirty="0"/>
              <a:t>, </a:t>
            </a:r>
            <a:r>
              <a:rPr lang="en-US" dirty="0" err="1"/>
              <a:t>tehnologice</a:t>
            </a:r>
            <a:r>
              <a:rPr lang="en-US" dirty="0"/>
              <a:t>).</a:t>
            </a:r>
          </a:p>
        </p:txBody>
      </p:sp>
      <p:pic>
        <p:nvPicPr>
          <p:cNvPr id="6" name="Picture 5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EE9EE389-CF83-AEA8-5367-42D0DA379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6034" y="6329541"/>
            <a:ext cx="735965" cy="25146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B51E641-12A1-0D7B-1D82-D49041341E5A}"/>
              </a:ext>
            </a:extLst>
          </p:cNvPr>
          <p:cNvSpPr/>
          <p:nvPr/>
        </p:nvSpPr>
        <p:spPr>
          <a:xfrm>
            <a:off x="4738255" y="6581001"/>
            <a:ext cx="7453745" cy="277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1E80A7-1460-5A9B-B404-AB53A818B100}"/>
              </a:ext>
            </a:extLst>
          </p:cNvPr>
          <p:cNvSpPr txBox="1"/>
          <p:nvPr/>
        </p:nvSpPr>
        <p:spPr>
          <a:xfrm>
            <a:off x="4738256" y="6588786"/>
            <a:ext cx="7453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Coordonator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GB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As.Drd.Ing</a:t>
            </a:r>
            <a:r>
              <a:rPr lang="en-GB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Bianca Gu</a:t>
            </a:r>
            <a:r>
              <a:rPr lang="ro-RO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șiță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50C4822-2DFF-DF0A-FB5B-5C5E79BE0265}"/>
              </a:ext>
            </a:extLst>
          </p:cNvPr>
          <p:cNvSpPr/>
          <p:nvPr/>
        </p:nvSpPr>
        <p:spPr>
          <a:xfrm>
            <a:off x="0" y="6581001"/>
            <a:ext cx="4738255" cy="276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500971-8716-EB79-6B50-F60A5EA51EB7}"/>
              </a:ext>
            </a:extLst>
          </p:cNvPr>
          <p:cNvSpPr txBox="1"/>
          <p:nvPr/>
        </p:nvSpPr>
        <p:spPr>
          <a:xfrm>
            <a:off x="1" y="6581001"/>
            <a:ext cx="4738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Ciumacenco Victor</a:t>
            </a:r>
          </a:p>
        </p:txBody>
      </p:sp>
      <p:pic>
        <p:nvPicPr>
          <p:cNvPr id="5" name="Picture 4" descr="CIA Triad">
            <a:extLst>
              <a:ext uri="{FF2B5EF4-FFF2-40B4-BE49-F238E27FC236}">
                <a16:creationId xmlns:a16="http://schemas.microsoft.com/office/drawing/2014/main" id="{7F02654C-EACA-679C-2A21-9BA17F0AE4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881" b="96310" l="21974" r="73553">
                        <a14:foregroundMark x1="46053" y1="10714" x2="53224" y2="13452"/>
                        <a14:foregroundMark x1="44408" y1="13810" x2="50526" y2="11310"/>
                        <a14:foregroundMark x1="50197" y1="10952" x2="42645" y2="15097"/>
                        <a14:foregroundMark x1="62941" y1="46921" x2="73026" y2="72976"/>
                        <a14:foregroundMark x1="73026" y1="72976" x2="72237" y2="89643"/>
                        <a14:foregroundMark x1="72237" y1="89643" x2="64050" y2="95678"/>
                        <a14:foregroundMark x1="51888" y1="95108" x2="48947" y2="90357"/>
                        <a14:foregroundMark x1="64079" y1="51071" x2="61513" y2="74286"/>
                        <a14:foregroundMark x1="61513" y1="74286" x2="66842" y2="90595"/>
                        <a14:foregroundMark x1="66842" y1="90595" x2="68289" y2="74048"/>
                        <a14:foregroundMark x1="68289" y1="74048" x2="66053" y2="56548"/>
                        <a14:foregroundMark x1="66053" y1="56548" x2="62829" y2="50357"/>
                        <a14:foregroundMark x1="63487" y1="50000" x2="63355" y2="49048"/>
                        <a14:foregroundMark x1="62566" y1="66548" x2="62961" y2="65476"/>
                        <a14:foregroundMark x1="63618" y1="55357" x2="63289" y2="47976"/>
                        <a14:foregroundMark x1="25592" y1="70714" x2="22621" y2="82986"/>
                        <a14:foregroundMark x1="23389" y1="87518" x2="24145" y2="88929"/>
                        <a14:foregroundMark x1="41977" y1="17569" x2="47500" y2="9881"/>
                        <a14:foregroundMark x1="40658" y1="19405" x2="40961" y2="18983"/>
                        <a14:foregroundMark x1="47500" y1="9881" x2="55855" y2="18690"/>
                        <a14:foregroundMark x1="55855" y1="18690" x2="56908" y2="23333"/>
                        <a14:foregroundMark x1="56908" y1="20952" x2="50724" y2="10238"/>
                        <a14:foregroundMark x1="50724" y1="10238" x2="42912" y2="14113"/>
                        <a14:foregroundMark x1="40735" y1="18798" x2="40066" y2="21310"/>
                        <a14:foregroundMark x1="42035" y1="17353" x2="50526" y2="11310"/>
                        <a14:foregroundMark x1="50526" y1="11310" x2="56974" y2="22738"/>
                        <a14:foregroundMark x1="56974" y1="22738" x2="57039" y2="24405"/>
                        <a14:foregroundMark x1="63750" y1="65714" x2="62566" y2="47262"/>
                        <a14:foregroundMark x1="62566" y1="47262" x2="61513" y2="63810"/>
                        <a14:foregroundMark x1="61513" y1="63810" x2="62895" y2="50000"/>
                        <a14:foregroundMark x1="62500" y1="68929" x2="65658" y2="89286"/>
                        <a14:foregroundMark x1="65658" y1="89286" x2="61447" y2="66667"/>
                        <a14:foregroundMark x1="61447" y1="66667" x2="63092" y2="82262"/>
                        <a14:foregroundMark x1="63092" y1="82262" x2="66316" y2="90595"/>
                        <a14:foregroundMark x1="69408" y1="88929" x2="65197" y2="87857"/>
                        <a14:foregroundMark x1="72237" y1="85476" x2="72566" y2="74286"/>
                        <a14:foregroundMark x1="73553" y1="73690" x2="72566" y2="90000"/>
                        <a14:foregroundMark x1="72566" y1="90000" x2="72434" y2="90000"/>
                        <a14:foregroundMark x1="64276" y1="45119" x2="61908" y2="47143"/>
                        <a14:foregroundMark x1="63039" y1="46788" x2="65395" y2="48571"/>
                        <a14:foregroundMark x1="60329" y1="48095" x2="65633" y2="49199"/>
                        <a14:foregroundMark x1="42895" y1="13095" x2="51842" y2="10714"/>
                        <a14:foregroundMark x1="51842" y1="10714" x2="56776" y2="22024"/>
                        <a14:backgroundMark x1="39699" y1="18024" x2="37829" y2="20714"/>
                        <a14:backgroundMark x1="45197" y1="10119" x2="44545" y2="11057"/>
                        <a14:backgroundMark x1="37829" y1="20714" x2="20132" y2="80595"/>
                        <a14:backgroundMark x1="20132" y1="80595" x2="19474" y2="16190"/>
                        <a14:backgroundMark x1="19474" y1="16190" x2="28750" y2="27857"/>
                        <a14:backgroundMark x1="28750" y1="27857" x2="35987" y2="10595"/>
                        <a14:backgroundMark x1="35987" y1="10595" x2="45526" y2="8810"/>
                        <a14:backgroundMark x1="54176" y1="12806" x2="70000" y2="20119"/>
                        <a14:backgroundMark x1="45526" y1="8810" x2="46620" y2="9316"/>
                        <a14:backgroundMark x1="70000" y1="20119" x2="82039" y2="19405"/>
                        <a14:backgroundMark x1="82039" y1="19405" x2="69013" y2="16786"/>
                        <a14:backgroundMark x1="69013" y1="16786" x2="68026" y2="19048"/>
                        <a14:backgroundMark x1="58026" y1="5476" x2="65197" y2="22500"/>
                        <a14:backgroundMark x1="65197" y1="22500" x2="80526" y2="41310"/>
                        <a14:backgroundMark x1="80526" y1="41310" x2="86184" y2="36905"/>
                        <a14:backgroundMark x1="64211" y1="40238" x2="63536" y2="44936"/>
                        <a14:backgroundMark x1="71772" y1="92065" x2="77237" y2="97262"/>
                        <a14:backgroundMark x1="60461" y1="46548" x2="62829" y2="44524"/>
                        <a14:backgroundMark x1="50855" y1="96905" x2="60855" y2="95476"/>
                        <a14:backgroundMark x1="60855" y1="95476" x2="63947" y2="95952"/>
                        <a14:backgroundMark x1="21447" y1="87976" x2="21645" y2="84405"/>
                        <a14:backgroundMark x1="21250" y1="82262" x2="22566" y2="88095"/>
                        <a14:backgroundMark x1="41974" y1="12976" x2="40461" y2="18571"/>
                        <a14:backgroundMark x1="58224" y1="23095" x2="56974" y2="20833"/>
                        <a14:backgroundMark x1="66974" y1="50714" x2="65395" y2="48214"/>
                        <a14:backgroundMark x1="63224" y1="44048" x2="61382" y2="46548"/>
                      </a14:backgroundRemoval>
                    </a14:imgEffect>
                  </a14:imgLayer>
                </a14:imgProps>
              </a:ext>
            </a:extLst>
          </a:blip>
          <a:srcRect l="17516" r="21330"/>
          <a:stretch>
            <a:fillRect/>
          </a:stretch>
        </p:blipFill>
        <p:spPr>
          <a:xfrm>
            <a:off x="8328340" y="818388"/>
            <a:ext cx="3495676" cy="309242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 descr="Mandatory Clauses of ISO 27001">
            <a:extLst>
              <a:ext uri="{FF2B5EF4-FFF2-40B4-BE49-F238E27FC236}">
                <a16:creationId xmlns:a16="http://schemas.microsoft.com/office/drawing/2014/main" id="{C529D39B-F316-4127-2246-8FFAB95860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 l="4128" t="26694" r="4150" b="7262"/>
          <a:stretch>
            <a:fillRect/>
          </a:stretch>
        </p:blipFill>
        <p:spPr>
          <a:xfrm>
            <a:off x="142874" y="3188151"/>
            <a:ext cx="8210551" cy="326712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4865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D571F-E6E8-2DB5-5FA9-D995F82BA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7633318-6918-B29A-37C0-5416F490EA77}"/>
              </a:ext>
            </a:extLst>
          </p:cNvPr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002060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689256-6F56-63FB-180A-27694F395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0"/>
            <a:ext cx="7140431" cy="566929"/>
          </a:xfrm>
        </p:spPr>
        <p:txBody>
          <a:bodyPr>
            <a:normAutofit/>
          </a:bodyPr>
          <a:lstStyle/>
          <a:p>
            <a:r>
              <a:rPr lang="ro-RO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2.2 Fundamente teoretice</a:t>
            </a:r>
            <a:endParaRPr lang="en-US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3A809B-6BB7-43D2-BB6A-52D31A72AD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275137" cy="3811588"/>
          </a:xfrm>
        </p:spPr>
        <p:txBody>
          <a:bodyPr>
            <a:normAutofit/>
          </a:bodyPr>
          <a:lstStyle/>
          <a:p>
            <a:r>
              <a:rPr lang="en-US" b="1" dirty="0"/>
              <a:t>NIST CSF 2.0 (2024):</a:t>
            </a:r>
            <a:r>
              <a:rPr lang="en-US" dirty="0"/>
              <a:t> </a:t>
            </a:r>
            <a:r>
              <a:rPr lang="en-US" dirty="0" err="1"/>
              <a:t>Cadru</a:t>
            </a:r>
            <a:r>
              <a:rPr lang="en-US" dirty="0"/>
              <a:t> de </a:t>
            </a:r>
            <a:r>
              <a:rPr lang="en-US" dirty="0" err="1"/>
              <a:t>bune</a:t>
            </a:r>
            <a:r>
              <a:rPr lang="en-US" dirty="0"/>
              <a:t> </a:t>
            </a:r>
            <a:r>
              <a:rPr lang="en-US" dirty="0" err="1"/>
              <a:t>practici</a:t>
            </a:r>
            <a:r>
              <a:rPr lang="en-US" dirty="0"/>
              <a:t>, </a:t>
            </a:r>
            <a:r>
              <a:rPr lang="en-US" dirty="0" err="1"/>
              <a:t>flexibil</a:t>
            </a:r>
            <a:r>
              <a:rPr lang="en-US" dirty="0"/>
              <a:t>, </a:t>
            </a:r>
            <a:r>
              <a:rPr lang="en-US" dirty="0" err="1"/>
              <a:t>necertificabil</a:t>
            </a:r>
            <a:r>
              <a:rPr lang="en-US" dirty="0"/>
              <a:t>. </a:t>
            </a:r>
            <a:r>
              <a:rPr lang="en-US" dirty="0" err="1"/>
              <a:t>Structură</a:t>
            </a:r>
            <a:r>
              <a:rPr lang="en-US" dirty="0"/>
              <a:t> pe 6 </a:t>
            </a:r>
            <a:r>
              <a:rPr lang="en-US" dirty="0" err="1"/>
              <a:t>funcții</a:t>
            </a:r>
            <a:r>
              <a:rPr lang="en-US" dirty="0"/>
              <a:t> de </a:t>
            </a:r>
            <a:r>
              <a:rPr lang="en-US" dirty="0" err="1"/>
              <a:t>bază</a:t>
            </a:r>
            <a:r>
              <a:rPr lang="en-US" dirty="0"/>
              <a:t>: Govern, Identify, Protect, Detect, Respond, Recover.</a:t>
            </a:r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en-US" dirty="0"/>
          </a:p>
          <a:p>
            <a:r>
              <a:rPr lang="en-US" b="1" dirty="0" err="1"/>
              <a:t>Sinergia</a:t>
            </a:r>
            <a:r>
              <a:rPr lang="en-US" b="1" dirty="0"/>
              <a:t>:</a:t>
            </a:r>
            <a:r>
              <a:rPr lang="en-US" dirty="0"/>
              <a:t> NIST </a:t>
            </a:r>
            <a:r>
              <a:rPr lang="en-US" dirty="0" err="1"/>
              <a:t>oferă</a:t>
            </a:r>
            <a:r>
              <a:rPr lang="en-US" dirty="0"/>
              <a:t> </a:t>
            </a:r>
            <a:r>
              <a:rPr lang="en-US" dirty="0" err="1"/>
              <a:t>modelul</a:t>
            </a:r>
            <a:r>
              <a:rPr lang="en-US" dirty="0"/>
              <a:t> tactic-</a:t>
            </a:r>
            <a:r>
              <a:rPr lang="en-US" dirty="0" err="1"/>
              <a:t>operațional</a:t>
            </a:r>
            <a:r>
              <a:rPr lang="en-US" dirty="0"/>
              <a:t>, ISO </a:t>
            </a:r>
            <a:r>
              <a:rPr lang="en-US" dirty="0" err="1"/>
              <a:t>oferă</a:t>
            </a:r>
            <a:r>
              <a:rPr lang="en-US" dirty="0"/>
              <a:t> </a:t>
            </a:r>
            <a:r>
              <a:rPr lang="en-US" dirty="0" err="1"/>
              <a:t>rigoarea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certificarea</a:t>
            </a:r>
            <a:r>
              <a:rPr lang="en-US" dirty="0"/>
              <a:t> </a:t>
            </a:r>
            <a:r>
              <a:rPr lang="en-US" dirty="0" err="1"/>
              <a:t>recunoscută</a:t>
            </a:r>
            <a:r>
              <a:rPr lang="en-US" dirty="0"/>
              <a:t>.</a:t>
            </a:r>
          </a:p>
        </p:txBody>
      </p:sp>
      <p:pic>
        <p:nvPicPr>
          <p:cNvPr id="3" name="Picture 2" descr="The Core Functions of NIST CSF: Govern | URM Consulting">
            <a:extLst>
              <a:ext uri="{FF2B5EF4-FFF2-40B4-BE49-F238E27FC236}">
                <a16:creationId xmlns:a16="http://schemas.microsoft.com/office/drawing/2014/main" id="{29ED8424-1FD1-9752-81EF-1B25CCD81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4385" y="989012"/>
            <a:ext cx="5746927" cy="5143500"/>
          </a:xfrm>
          <a:prstGeom prst="rect">
            <a:avLst/>
          </a:prstGeom>
        </p:spPr>
      </p:pic>
      <p:pic>
        <p:nvPicPr>
          <p:cNvPr id="6" name="Picture 5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1AA05156-FF5F-8131-E65D-E835580E1B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6034" y="6329541"/>
            <a:ext cx="735965" cy="25146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80F0422-C444-04C0-685A-E895273F00A1}"/>
              </a:ext>
            </a:extLst>
          </p:cNvPr>
          <p:cNvSpPr/>
          <p:nvPr/>
        </p:nvSpPr>
        <p:spPr>
          <a:xfrm>
            <a:off x="4738255" y="6581001"/>
            <a:ext cx="7453745" cy="277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BE5662-1BC0-95A5-DF2A-865B5F5D4BAB}"/>
              </a:ext>
            </a:extLst>
          </p:cNvPr>
          <p:cNvSpPr txBox="1"/>
          <p:nvPr/>
        </p:nvSpPr>
        <p:spPr>
          <a:xfrm>
            <a:off x="4738256" y="6588786"/>
            <a:ext cx="7453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Coordonator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GB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As.Drd.Ing</a:t>
            </a:r>
            <a:r>
              <a:rPr lang="en-GB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Bianca Gu</a:t>
            </a:r>
            <a:r>
              <a:rPr lang="ro-RO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șiță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894448-238D-21A9-DCB8-CF81021687F9}"/>
              </a:ext>
            </a:extLst>
          </p:cNvPr>
          <p:cNvSpPr/>
          <p:nvPr/>
        </p:nvSpPr>
        <p:spPr>
          <a:xfrm>
            <a:off x="0" y="6581001"/>
            <a:ext cx="4738255" cy="276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630C75-3C35-F3EB-4D72-83D45328F15D}"/>
              </a:ext>
            </a:extLst>
          </p:cNvPr>
          <p:cNvSpPr txBox="1"/>
          <p:nvPr/>
        </p:nvSpPr>
        <p:spPr>
          <a:xfrm>
            <a:off x="1" y="6581001"/>
            <a:ext cx="4738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Ciumacenco Victor</a:t>
            </a:r>
          </a:p>
        </p:txBody>
      </p:sp>
    </p:spTree>
    <p:extLst>
      <p:ext uri="{BB962C8B-B14F-4D97-AF65-F5344CB8AC3E}">
        <p14:creationId xmlns:p14="http://schemas.microsoft.com/office/powerpoint/2010/main" val="1823446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1C80F-2BD2-866B-A31B-1BCFA281B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2359363-3318-D672-2FDA-67A2861AB33E}"/>
              </a:ext>
            </a:extLst>
          </p:cNvPr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gradFill>
            <a:gsLst>
              <a:gs pos="0">
                <a:srgbClr val="002060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0" scaled="1"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86F353-2015-68DF-4CEF-B774231F2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0"/>
            <a:ext cx="10020718" cy="566929"/>
          </a:xfrm>
        </p:spPr>
        <p:txBody>
          <a:bodyPr>
            <a:normAutofit/>
          </a:bodyPr>
          <a:lstStyle/>
          <a:p>
            <a:r>
              <a:rPr lang="ro-RO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2800" dirty="0">
                <a:solidFill>
                  <a:schemeClr val="bg1"/>
                </a:solidFill>
              </a:rPr>
              <a:t>Analiza </a:t>
            </a:r>
            <a:r>
              <a:rPr lang="en-US" sz="2800" dirty="0" err="1">
                <a:solidFill>
                  <a:schemeClr val="bg1"/>
                </a:solidFill>
              </a:rPr>
              <a:t>amenințărilor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și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vulnerabilităților</a:t>
            </a:r>
            <a:endParaRPr lang="en-US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521E7D-86B0-A47B-83D2-F8AD53F1B3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10581" y="1295003"/>
            <a:ext cx="7970837" cy="4267994"/>
          </a:xfrm>
        </p:spPr>
        <p:txBody>
          <a:bodyPr>
            <a:normAutofit fontScale="92500" lnSpcReduction="10000"/>
          </a:bodyPr>
          <a:lstStyle/>
          <a:p>
            <a:r>
              <a:rPr lang="en-US" sz="2000" b="1" dirty="0" err="1"/>
              <a:t>Tacticile</a:t>
            </a:r>
            <a:r>
              <a:rPr lang="en-US" sz="2000" b="1" dirty="0"/>
              <a:t> </a:t>
            </a:r>
            <a:r>
              <a:rPr lang="en-US" sz="2000" b="1" dirty="0" err="1"/>
              <a:t>atacatorilor</a:t>
            </a:r>
            <a:r>
              <a:rPr lang="en-US" sz="2000" b="1" dirty="0"/>
              <a:t>:</a:t>
            </a:r>
            <a:r>
              <a:rPr lang="en-US" sz="2000" dirty="0"/>
              <a:t> </a:t>
            </a:r>
            <a:endParaRPr lang="ro-RO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Ransomware cu </a:t>
            </a:r>
            <a:r>
              <a:rPr lang="en-US" sz="2000" dirty="0" err="1"/>
              <a:t>dublă</a:t>
            </a:r>
            <a:r>
              <a:rPr lang="en-US" sz="2000" dirty="0"/>
              <a:t> </a:t>
            </a:r>
            <a:r>
              <a:rPr lang="en-US" sz="2000" dirty="0" err="1"/>
              <a:t>extorsiune</a:t>
            </a:r>
            <a:endParaRPr lang="ro-RO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Atacuri</a:t>
            </a:r>
            <a:r>
              <a:rPr lang="en-US" sz="2000" dirty="0"/>
              <a:t> facilitate de AI (Phishing </a:t>
            </a:r>
            <a:r>
              <a:rPr lang="en-US" sz="2000" dirty="0" err="1"/>
              <a:t>automatizat</a:t>
            </a:r>
            <a:r>
              <a:rPr lang="en-US" sz="2000" dirty="0"/>
              <a:t>) </a:t>
            </a:r>
            <a:endParaRPr lang="ro-RO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Exploatarea</a:t>
            </a:r>
            <a:r>
              <a:rPr lang="en-US" sz="2000" dirty="0"/>
              <a:t> </a:t>
            </a:r>
            <a:r>
              <a:rPr lang="en-US" sz="2000" dirty="0" err="1"/>
              <a:t>lanțului</a:t>
            </a:r>
            <a:r>
              <a:rPr lang="en-US" sz="2000" dirty="0"/>
              <a:t> de </a:t>
            </a:r>
            <a:r>
              <a:rPr lang="en-US" sz="2000" dirty="0" err="1"/>
              <a:t>aprovizionare</a:t>
            </a:r>
            <a:r>
              <a:rPr lang="en-US" sz="2000" dirty="0"/>
              <a:t> (Supply Chain Attacks).</a:t>
            </a:r>
            <a:endParaRPr lang="ro-RO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sz="2000" b="1" dirty="0" err="1"/>
              <a:t>Vulnerabilități</a:t>
            </a:r>
            <a:r>
              <a:rPr lang="en-US" sz="2000" b="1" dirty="0"/>
              <a:t> </a:t>
            </a:r>
            <a:r>
              <a:rPr lang="en-US" sz="2000" b="1" dirty="0" err="1"/>
              <a:t>exploatate</a:t>
            </a:r>
            <a:r>
              <a:rPr lang="en-US" sz="2000" b="1" dirty="0"/>
              <a:t>:</a:t>
            </a:r>
            <a:r>
              <a:rPr lang="en-US" sz="2000" dirty="0"/>
              <a:t> </a:t>
            </a:r>
            <a:endParaRPr lang="ro-RO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Tehnice</a:t>
            </a:r>
            <a:r>
              <a:rPr lang="en-US" sz="2000" dirty="0"/>
              <a:t> (software </a:t>
            </a:r>
            <a:r>
              <a:rPr lang="en-US" sz="2000" dirty="0" err="1"/>
              <a:t>neactualizat</a:t>
            </a:r>
            <a:r>
              <a:rPr lang="en-US" sz="2000" dirty="0"/>
              <a:t>)</a:t>
            </a:r>
            <a:endParaRPr lang="ro-RO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Configurare</a:t>
            </a:r>
            <a:r>
              <a:rPr lang="en-US" sz="2000" dirty="0"/>
              <a:t> (</a:t>
            </a:r>
            <a:r>
              <a:rPr lang="en-US" sz="2000" dirty="0" err="1"/>
              <a:t>lipsă</a:t>
            </a:r>
            <a:r>
              <a:rPr lang="en-US" sz="2000" dirty="0"/>
              <a:t> MFA, parole </a:t>
            </a:r>
            <a:r>
              <a:rPr lang="en-US" sz="2000" dirty="0" err="1"/>
              <a:t>implicite</a:t>
            </a:r>
            <a:r>
              <a:rPr lang="en-US" sz="2000" dirty="0"/>
              <a:t>)</a:t>
            </a:r>
            <a:endParaRPr lang="ro-RO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Organizaționale</a:t>
            </a:r>
            <a:r>
              <a:rPr lang="en-US" sz="2000" dirty="0"/>
              <a:t> (</a:t>
            </a:r>
            <a:r>
              <a:rPr lang="en-US" sz="2000" dirty="0" err="1"/>
              <a:t>lipsă</a:t>
            </a:r>
            <a:r>
              <a:rPr lang="en-US" sz="2000" dirty="0"/>
              <a:t> de </a:t>
            </a:r>
            <a:r>
              <a:rPr lang="en-US" sz="2000" dirty="0" err="1"/>
              <a:t>cultură</a:t>
            </a:r>
            <a:r>
              <a:rPr lang="en-US" sz="2000" dirty="0"/>
              <a:t> a </a:t>
            </a:r>
            <a:r>
              <a:rPr lang="en-US" sz="2000" dirty="0" err="1"/>
              <a:t>securității</a:t>
            </a:r>
            <a:r>
              <a:rPr lang="en-US" sz="2000" dirty="0"/>
              <a:t>)</a:t>
            </a:r>
            <a:endParaRPr lang="ro-RO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sz="2000" b="1" dirty="0"/>
              <a:t>Impact:</a:t>
            </a:r>
            <a:r>
              <a:rPr lang="en-US" sz="2000" dirty="0"/>
              <a:t> </a:t>
            </a:r>
            <a:r>
              <a:rPr lang="en-US" sz="2000" dirty="0" err="1"/>
              <a:t>Financiar</a:t>
            </a:r>
            <a:r>
              <a:rPr lang="en-US" sz="2000" dirty="0"/>
              <a:t> (cost </a:t>
            </a:r>
            <a:r>
              <a:rPr lang="en-US" sz="2000" dirty="0" err="1"/>
              <a:t>mediu</a:t>
            </a:r>
            <a:r>
              <a:rPr lang="en-US" sz="2000" dirty="0"/>
              <a:t> de 4,44 mil. USD la </a:t>
            </a:r>
            <a:r>
              <a:rPr lang="en-US" sz="2000" dirty="0" err="1"/>
              <a:t>nivel</a:t>
            </a:r>
            <a:r>
              <a:rPr lang="en-US" sz="2000" dirty="0"/>
              <a:t> global per </a:t>
            </a:r>
            <a:r>
              <a:rPr lang="en-US" sz="2000" dirty="0" err="1"/>
              <a:t>breșă</a:t>
            </a:r>
            <a:r>
              <a:rPr lang="en-US" sz="2000" dirty="0"/>
              <a:t>), </a:t>
            </a:r>
            <a:r>
              <a:rPr lang="en-US" sz="2000" dirty="0" err="1"/>
              <a:t>reputațional</a:t>
            </a:r>
            <a:r>
              <a:rPr lang="en-US" sz="2000" dirty="0"/>
              <a:t> </a:t>
            </a:r>
            <a:r>
              <a:rPr lang="en-US" sz="2000" dirty="0" err="1"/>
              <a:t>și</a:t>
            </a:r>
            <a:r>
              <a:rPr lang="en-US" sz="2000" dirty="0"/>
              <a:t> de </a:t>
            </a:r>
            <a:r>
              <a:rPr lang="en-US" sz="2000" dirty="0" err="1"/>
              <a:t>reglementare</a:t>
            </a:r>
            <a:r>
              <a:rPr lang="en-US" sz="2000" dirty="0"/>
              <a:t>.</a:t>
            </a:r>
          </a:p>
        </p:txBody>
      </p:sp>
      <p:pic>
        <p:nvPicPr>
          <p:cNvPr id="5" name="Picture 4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B8746496-97ED-10EA-7773-90A0DEC805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6034" y="6329541"/>
            <a:ext cx="735965" cy="25146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64C8440-C396-C0A7-E64D-90A069AFEF05}"/>
              </a:ext>
            </a:extLst>
          </p:cNvPr>
          <p:cNvSpPr/>
          <p:nvPr/>
        </p:nvSpPr>
        <p:spPr>
          <a:xfrm>
            <a:off x="4738255" y="6581001"/>
            <a:ext cx="7453745" cy="277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5C257E-15A2-51A3-7F37-96AACD789DEA}"/>
              </a:ext>
            </a:extLst>
          </p:cNvPr>
          <p:cNvSpPr txBox="1"/>
          <p:nvPr/>
        </p:nvSpPr>
        <p:spPr>
          <a:xfrm>
            <a:off x="4738256" y="6588786"/>
            <a:ext cx="7453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Coordonator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GB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As.Drd.Ing</a:t>
            </a:r>
            <a:r>
              <a:rPr lang="en-GB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Bianca Gu</a:t>
            </a:r>
            <a:r>
              <a:rPr lang="ro-RO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șiță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70046-286D-E4DD-F9AF-350A615B56F6}"/>
              </a:ext>
            </a:extLst>
          </p:cNvPr>
          <p:cNvSpPr/>
          <p:nvPr/>
        </p:nvSpPr>
        <p:spPr>
          <a:xfrm>
            <a:off x="0" y="6581001"/>
            <a:ext cx="4738255" cy="276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8E91C1-A0F8-5BC6-040E-412B13A6CE81}"/>
              </a:ext>
            </a:extLst>
          </p:cNvPr>
          <p:cNvSpPr txBox="1"/>
          <p:nvPr/>
        </p:nvSpPr>
        <p:spPr>
          <a:xfrm>
            <a:off x="1" y="6581001"/>
            <a:ext cx="4738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Ciumacenco Victor</a:t>
            </a:r>
          </a:p>
        </p:txBody>
      </p:sp>
    </p:spTree>
    <p:extLst>
      <p:ext uri="{BB962C8B-B14F-4D97-AF65-F5344CB8AC3E}">
        <p14:creationId xmlns:p14="http://schemas.microsoft.com/office/powerpoint/2010/main" val="1010871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5826F-E77B-9D2E-7580-3A2FD5426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B2D90F6-12C3-B742-342F-0BE28745EC3F}"/>
              </a:ext>
            </a:extLst>
          </p:cNvPr>
          <p:cNvSpPr/>
          <p:nvPr/>
        </p:nvSpPr>
        <p:spPr>
          <a:xfrm>
            <a:off x="-1" y="0"/>
            <a:ext cx="12192000" cy="566928"/>
          </a:xfrm>
          <a:prstGeom prst="rect">
            <a:avLst/>
          </a:prstGeom>
          <a:gradFill>
            <a:gsLst>
              <a:gs pos="0">
                <a:srgbClr val="002060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0" scaled="1"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AA71B4-B675-DB7F-411B-6F4ECB818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0"/>
            <a:ext cx="10020718" cy="566929"/>
          </a:xfrm>
        </p:spPr>
        <p:txBody>
          <a:bodyPr>
            <a:normAutofit/>
          </a:bodyPr>
          <a:lstStyle/>
          <a:p>
            <a:r>
              <a:rPr lang="ro-RO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</a:t>
            </a: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Mecanisme</a:t>
            </a:r>
            <a:r>
              <a:rPr lang="en-US" sz="2800" dirty="0">
                <a:solidFill>
                  <a:schemeClr val="bg1"/>
                </a:solidFill>
              </a:rPr>
              <a:t> de </a:t>
            </a:r>
            <a:r>
              <a:rPr lang="en-US" sz="2800" dirty="0" err="1">
                <a:solidFill>
                  <a:schemeClr val="bg1"/>
                </a:solidFill>
              </a:rPr>
              <a:t>protecție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și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soluții</a:t>
            </a:r>
            <a:endParaRPr lang="en-US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E0BE65-4FA0-C128-F46A-5EA25CFC7A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48593" y="1249864"/>
            <a:ext cx="9294812" cy="4648200"/>
          </a:xfrm>
        </p:spPr>
        <p:txBody>
          <a:bodyPr>
            <a:noAutofit/>
          </a:bodyPr>
          <a:lstStyle/>
          <a:p>
            <a:r>
              <a:rPr lang="en-US" sz="2000" b="1" dirty="0" err="1"/>
              <a:t>Măsuri</a:t>
            </a:r>
            <a:r>
              <a:rPr lang="en-US" sz="2000" b="1" dirty="0"/>
              <a:t> preventive (Protect):</a:t>
            </a:r>
            <a:r>
              <a:rPr lang="en-US" sz="2000" dirty="0"/>
              <a:t> </a:t>
            </a:r>
            <a:endParaRPr lang="ro-RO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Autentificare</a:t>
            </a:r>
            <a:r>
              <a:rPr lang="en-US" sz="2000" dirty="0"/>
              <a:t> </a:t>
            </a:r>
            <a:r>
              <a:rPr lang="en-US" sz="2000" dirty="0" err="1"/>
              <a:t>Multifactorială</a:t>
            </a:r>
            <a:r>
              <a:rPr lang="en-US" sz="2000" dirty="0"/>
              <a:t> (MFA)</a:t>
            </a:r>
            <a:endParaRPr lang="ro-RO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2000" dirty="0"/>
              <a:t>S</a:t>
            </a:r>
            <a:r>
              <a:rPr lang="en-US" sz="2000" dirty="0" err="1"/>
              <a:t>ecurizarea</a:t>
            </a:r>
            <a:r>
              <a:rPr lang="en-US" sz="2000" dirty="0"/>
              <a:t> </a:t>
            </a:r>
            <a:r>
              <a:rPr lang="en-US" sz="2000" dirty="0" err="1"/>
              <a:t>configurațiilor</a:t>
            </a:r>
            <a:endParaRPr lang="ro-RO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2000" dirty="0"/>
              <a:t>E</a:t>
            </a:r>
            <a:r>
              <a:rPr lang="en-US" sz="2000" dirty="0" err="1"/>
              <a:t>ducarea</a:t>
            </a:r>
            <a:r>
              <a:rPr lang="en-US" sz="2000" dirty="0"/>
              <a:t> </a:t>
            </a:r>
            <a:r>
              <a:rPr lang="en-US" sz="2000" dirty="0" err="1"/>
              <a:t>continuă</a:t>
            </a:r>
            <a:r>
              <a:rPr lang="en-US" sz="2000" dirty="0"/>
              <a:t> a </a:t>
            </a:r>
            <a:r>
              <a:rPr lang="en-US" sz="2000" dirty="0" err="1"/>
              <a:t>personalului</a:t>
            </a:r>
            <a:r>
              <a:rPr lang="en-US" sz="2000" dirty="0"/>
              <a:t>.</a:t>
            </a:r>
          </a:p>
          <a:p>
            <a:r>
              <a:rPr lang="en-US" sz="2000" b="1" dirty="0" err="1"/>
              <a:t>Măsuri</a:t>
            </a:r>
            <a:r>
              <a:rPr lang="en-US" sz="2000" b="1" dirty="0"/>
              <a:t> de </a:t>
            </a:r>
            <a:r>
              <a:rPr lang="en-US" sz="2000" b="1" dirty="0" err="1"/>
              <a:t>detecție</a:t>
            </a:r>
            <a:r>
              <a:rPr lang="en-US" sz="2000" b="1" dirty="0"/>
              <a:t> (Detect):</a:t>
            </a:r>
            <a:r>
              <a:rPr lang="en-US" sz="2000" dirty="0"/>
              <a:t> </a:t>
            </a:r>
            <a:endParaRPr lang="ro-RO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Monitorizare</a:t>
            </a:r>
            <a:r>
              <a:rPr lang="en-US" sz="2000" dirty="0"/>
              <a:t> </a:t>
            </a:r>
            <a:r>
              <a:rPr lang="en-US" sz="2000" dirty="0" err="1"/>
              <a:t>continuă</a:t>
            </a:r>
            <a:r>
              <a:rPr lang="en-US" sz="2000" dirty="0"/>
              <a:t> (SIEM)</a:t>
            </a:r>
            <a:endParaRPr lang="ro-RO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2000" dirty="0"/>
              <a:t>S</a:t>
            </a:r>
            <a:r>
              <a:rPr lang="en-US" sz="2000" dirty="0" err="1"/>
              <a:t>oluții</a:t>
            </a:r>
            <a:r>
              <a:rPr lang="en-US" sz="2000" dirty="0"/>
              <a:t> de </a:t>
            </a:r>
            <a:r>
              <a:rPr lang="en-US" sz="2000" dirty="0" err="1"/>
              <a:t>analiză</a:t>
            </a:r>
            <a:r>
              <a:rPr lang="en-US" sz="2000" dirty="0"/>
              <a:t> </a:t>
            </a:r>
            <a:r>
              <a:rPr lang="en-US" sz="2000" dirty="0" err="1"/>
              <a:t>euristică</a:t>
            </a:r>
            <a:r>
              <a:rPr lang="en-US" sz="2000" dirty="0"/>
              <a:t> (EDR).</a:t>
            </a:r>
          </a:p>
          <a:p>
            <a:r>
              <a:rPr lang="en-US" sz="2000" b="1" dirty="0" err="1"/>
              <a:t>Măsuri</a:t>
            </a:r>
            <a:r>
              <a:rPr lang="en-US" sz="2000" b="1" dirty="0"/>
              <a:t> reactive (Respond &amp; Recover):</a:t>
            </a:r>
            <a:r>
              <a:rPr lang="en-US" sz="2000" dirty="0"/>
              <a:t> </a:t>
            </a:r>
            <a:endParaRPr lang="ro-RO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Planuri</a:t>
            </a:r>
            <a:r>
              <a:rPr lang="en-US" sz="2000" dirty="0"/>
              <a:t> de </a:t>
            </a:r>
            <a:r>
              <a:rPr lang="en-US" sz="2000" dirty="0" err="1"/>
              <a:t>răspuns</a:t>
            </a:r>
            <a:r>
              <a:rPr lang="en-US" sz="2000" dirty="0"/>
              <a:t> la </a:t>
            </a:r>
            <a:r>
              <a:rPr lang="en-US" sz="2000" dirty="0" err="1"/>
              <a:t>incidente</a:t>
            </a:r>
            <a:r>
              <a:rPr lang="en-US" sz="2000" dirty="0"/>
              <a:t> testate practice</a:t>
            </a:r>
            <a:endParaRPr lang="ro-RO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2000" dirty="0"/>
              <a:t>S</a:t>
            </a:r>
            <a:r>
              <a:rPr lang="en-US" sz="2000" dirty="0" err="1"/>
              <a:t>trategii</a:t>
            </a:r>
            <a:r>
              <a:rPr lang="en-US" sz="2000" dirty="0"/>
              <a:t> </a:t>
            </a:r>
            <a:r>
              <a:rPr lang="en-US" sz="2000" dirty="0" err="1"/>
              <a:t>sigure</a:t>
            </a:r>
            <a:r>
              <a:rPr lang="en-US" sz="2000" dirty="0"/>
              <a:t> de backup offline (air-gapped).</a:t>
            </a:r>
          </a:p>
          <a:p>
            <a:r>
              <a:rPr lang="en-US" sz="2000" b="1" dirty="0" err="1"/>
              <a:t>Limitări</a:t>
            </a:r>
            <a:r>
              <a:rPr lang="en-US" sz="2000" b="1" dirty="0"/>
              <a:t>:</a:t>
            </a:r>
            <a:r>
              <a:rPr lang="en-US" sz="2000" dirty="0"/>
              <a:t> </a:t>
            </a:r>
            <a:r>
              <a:rPr lang="en-US" sz="2000" dirty="0" err="1"/>
              <a:t>Costuri</a:t>
            </a:r>
            <a:r>
              <a:rPr lang="en-US" sz="2000" dirty="0"/>
              <a:t> </a:t>
            </a:r>
            <a:r>
              <a:rPr lang="en-US" sz="2000" dirty="0" err="1"/>
              <a:t>ridicate</a:t>
            </a:r>
            <a:r>
              <a:rPr lang="en-US" sz="2000" dirty="0"/>
              <a:t> de </a:t>
            </a:r>
            <a:r>
              <a:rPr lang="en-US" sz="2000" dirty="0" err="1"/>
              <a:t>implementare</a:t>
            </a:r>
            <a:r>
              <a:rPr lang="en-US" sz="2000" dirty="0"/>
              <a:t>/</a:t>
            </a:r>
            <a:r>
              <a:rPr lang="en-US" sz="2000" dirty="0" err="1"/>
              <a:t>certificare</a:t>
            </a:r>
            <a:r>
              <a:rPr lang="en-US" sz="2000" dirty="0"/>
              <a:t> </a:t>
            </a:r>
            <a:r>
              <a:rPr lang="en-US" sz="2000" dirty="0" err="1"/>
              <a:t>și</a:t>
            </a:r>
            <a:r>
              <a:rPr lang="en-US" sz="2000" dirty="0"/>
              <a:t> </a:t>
            </a:r>
            <a:r>
              <a:rPr lang="en-US" sz="2000" dirty="0" err="1"/>
              <a:t>riscul</a:t>
            </a:r>
            <a:r>
              <a:rPr lang="en-US" sz="2000" dirty="0"/>
              <a:t> de "checkbox compliance" (</a:t>
            </a:r>
            <a:r>
              <a:rPr lang="en-US" sz="2000" dirty="0" err="1"/>
              <a:t>conformitate</a:t>
            </a:r>
            <a:r>
              <a:rPr lang="en-US" sz="2000" dirty="0"/>
              <a:t> </a:t>
            </a:r>
            <a:r>
              <a:rPr lang="en-US" sz="2000" dirty="0" err="1"/>
              <a:t>mimată</a:t>
            </a:r>
            <a:r>
              <a:rPr lang="en-US" sz="2000" dirty="0"/>
              <a:t> pe </a:t>
            </a:r>
            <a:r>
              <a:rPr lang="en-US" sz="2000" dirty="0" err="1"/>
              <a:t>hârtie</a:t>
            </a:r>
            <a:r>
              <a:rPr lang="en-US" sz="2000" dirty="0"/>
              <a:t>).</a:t>
            </a:r>
          </a:p>
        </p:txBody>
      </p:sp>
      <p:pic>
        <p:nvPicPr>
          <p:cNvPr id="5" name="Picture 4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02AC644B-1355-9AF3-7679-5B0E64E87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6034" y="6329541"/>
            <a:ext cx="735965" cy="25146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B365047-5E08-557E-F71D-C212B78A8C00}"/>
              </a:ext>
            </a:extLst>
          </p:cNvPr>
          <p:cNvSpPr/>
          <p:nvPr/>
        </p:nvSpPr>
        <p:spPr>
          <a:xfrm>
            <a:off x="4738255" y="6581001"/>
            <a:ext cx="7453745" cy="277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ADD336-B6A4-2794-EECD-32B7911C5A56}"/>
              </a:ext>
            </a:extLst>
          </p:cNvPr>
          <p:cNvSpPr txBox="1"/>
          <p:nvPr/>
        </p:nvSpPr>
        <p:spPr>
          <a:xfrm>
            <a:off x="4738256" y="6588786"/>
            <a:ext cx="7453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Coordonator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GB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As.Drd.Ing</a:t>
            </a:r>
            <a:r>
              <a:rPr lang="en-GB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Bianca Gu</a:t>
            </a:r>
            <a:r>
              <a:rPr lang="ro-RO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șiță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82AF16-48B8-FDF6-1039-122DB409CF7A}"/>
              </a:ext>
            </a:extLst>
          </p:cNvPr>
          <p:cNvSpPr/>
          <p:nvPr/>
        </p:nvSpPr>
        <p:spPr>
          <a:xfrm>
            <a:off x="0" y="6581001"/>
            <a:ext cx="4738255" cy="276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C60EBD-28C9-B0D0-039B-DFD058545A8C}"/>
              </a:ext>
            </a:extLst>
          </p:cNvPr>
          <p:cNvSpPr txBox="1"/>
          <p:nvPr/>
        </p:nvSpPr>
        <p:spPr>
          <a:xfrm>
            <a:off x="1" y="6581001"/>
            <a:ext cx="4738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Ciumacenco Victor</a:t>
            </a:r>
          </a:p>
        </p:txBody>
      </p:sp>
    </p:spTree>
    <p:extLst>
      <p:ext uri="{BB962C8B-B14F-4D97-AF65-F5344CB8AC3E}">
        <p14:creationId xmlns:p14="http://schemas.microsoft.com/office/powerpoint/2010/main" val="2529415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F794E-068E-8347-540E-4D70E601D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E602CD3-4A8B-3FE4-6CDB-BC36D8DF5962}"/>
              </a:ext>
            </a:extLst>
          </p:cNvPr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gradFill>
            <a:gsLst>
              <a:gs pos="0">
                <a:srgbClr val="002060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0" scaled="1"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AD6B5F-5701-4058-BE22-C60AFC768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0"/>
            <a:ext cx="9362992" cy="566929"/>
          </a:xfrm>
        </p:spPr>
        <p:txBody>
          <a:bodyPr>
            <a:normAutofit/>
          </a:bodyPr>
          <a:lstStyle/>
          <a:p>
            <a:r>
              <a:rPr lang="pt-BR" sz="2800" dirty="0">
                <a:solidFill>
                  <a:schemeClr val="bg1"/>
                </a:solidFill>
              </a:rPr>
              <a:t>5. Studiu de caz - Colonial Pipeline</a:t>
            </a:r>
            <a:endParaRPr lang="en-US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C9CAFE-95DF-230C-5EFE-2AFF36C899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7" y="1668170"/>
            <a:ext cx="6380162" cy="3811588"/>
          </a:xfrm>
        </p:spPr>
        <p:txBody>
          <a:bodyPr>
            <a:normAutofit/>
          </a:bodyPr>
          <a:lstStyle/>
          <a:p>
            <a:r>
              <a:rPr lang="en-US" sz="2000" b="1" dirty="0"/>
              <a:t>Context:</a:t>
            </a:r>
            <a:r>
              <a:rPr lang="en-US" sz="2000" dirty="0"/>
              <a:t> Cel </a:t>
            </a:r>
            <a:r>
              <a:rPr lang="en-US" sz="2000" dirty="0" err="1"/>
              <a:t>mai</a:t>
            </a:r>
            <a:r>
              <a:rPr lang="en-US" sz="2000" dirty="0"/>
              <a:t> mare </a:t>
            </a:r>
            <a:r>
              <a:rPr lang="en-US" sz="2000" dirty="0" err="1"/>
              <a:t>sistem</a:t>
            </a:r>
            <a:r>
              <a:rPr lang="en-US" sz="2000" dirty="0"/>
              <a:t> de </a:t>
            </a:r>
            <a:r>
              <a:rPr lang="en-US" sz="2000" dirty="0" err="1"/>
              <a:t>conducte</a:t>
            </a:r>
            <a:r>
              <a:rPr lang="en-US" sz="2000" dirty="0"/>
              <a:t> de </a:t>
            </a:r>
            <a:r>
              <a:rPr lang="en-US" sz="2000" dirty="0" err="1"/>
              <a:t>combustibil</a:t>
            </a:r>
            <a:r>
              <a:rPr lang="en-US" sz="2000" dirty="0"/>
              <a:t> din SUA </a:t>
            </a:r>
            <a:r>
              <a:rPr lang="en-US" sz="2000" dirty="0" err="1"/>
              <a:t>atacat</a:t>
            </a:r>
            <a:r>
              <a:rPr lang="en-US" sz="2000" dirty="0"/>
              <a:t> de ransomware-ul </a:t>
            </a:r>
            <a:r>
              <a:rPr lang="en-US" sz="2000" dirty="0" err="1"/>
              <a:t>DarkSide</a:t>
            </a:r>
            <a:r>
              <a:rPr lang="en-US" sz="2000" dirty="0"/>
              <a:t> (</a:t>
            </a:r>
            <a:r>
              <a:rPr lang="en-US" sz="2000" dirty="0" err="1"/>
              <a:t>mai</a:t>
            </a:r>
            <a:r>
              <a:rPr lang="en-US" sz="2000" dirty="0"/>
              <a:t> 2021).</a:t>
            </a:r>
          </a:p>
          <a:p>
            <a:r>
              <a:rPr lang="en-US" sz="2000" b="1" dirty="0" err="1"/>
              <a:t>Vectorul</a:t>
            </a:r>
            <a:r>
              <a:rPr lang="en-US" sz="2000" b="1" dirty="0"/>
              <a:t> de </a:t>
            </a:r>
            <a:r>
              <a:rPr lang="en-US" sz="2000" b="1" dirty="0" err="1"/>
              <a:t>atac</a:t>
            </a:r>
            <a:r>
              <a:rPr lang="en-US" sz="2000" b="1" dirty="0"/>
              <a:t>:</a:t>
            </a:r>
            <a:r>
              <a:rPr lang="en-US" sz="2000" dirty="0"/>
              <a:t> </a:t>
            </a:r>
            <a:r>
              <a:rPr lang="en-US" sz="2000" dirty="0" err="1"/>
              <a:t>Infiltrare</a:t>
            </a:r>
            <a:r>
              <a:rPr lang="en-US" sz="2000" dirty="0"/>
              <a:t> </a:t>
            </a:r>
            <a:r>
              <a:rPr lang="en-US" sz="2000" dirty="0" err="1"/>
              <a:t>printr</a:t>
            </a:r>
            <a:r>
              <a:rPr lang="en-US" sz="2000" dirty="0"/>
              <a:t>-un </a:t>
            </a:r>
            <a:r>
              <a:rPr lang="en-US" sz="2000" dirty="0" err="1"/>
              <a:t>cont</a:t>
            </a:r>
            <a:r>
              <a:rPr lang="en-US" sz="2000" dirty="0"/>
              <a:t> de VPN </a:t>
            </a:r>
            <a:r>
              <a:rPr lang="en-US" sz="2000" dirty="0" err="1"/>
              <a:t>inactiv</a:t>
            </a:r>
            <a:r>
              <a:rPr lang="en-US" sz="2000" dirty="0"/>
              <a:t>, cu </a:t>
            </a:r>
            <a:r>
              <a:rPr lang="en-US" sz="2000" dirty="0" err="1"/>
              <a:t>parolă</a:t>
            </a:r>
            <a:r>
              <a:rPr lang="en-US" sz="2000" dirty="0"/>
              <a:t> </a:t>
            </a:r>
            <a:r>
              <a:rPr lang="en-US" sz="2000" dirty="0" err="1"/>
              <a:t>compromisă</a:t>
            </a:r>
            <a:r>
              <a:rPr lang="en-US" sz="2000" dirty="0"/>
              <a:t> </a:t>
            </a:r>
            <a:r>
              <a:rPr lang="en-US" sz="2000" dirty="0" err="1"/>
              <a:t>și</a:t>
            </a:r>
            <a:r>
              <a:rPr lang="en-US" sz="2000" dirty="0"/>
              <a:t> FĂRĂ </a:t>
            </a:r>
            <a:r>
              <a:rPr lang="en-US" sz="2000" dirty="0" err="1"/>
              <a:t>Autentificare</a:t>
            </a:r>
            <a:r>
              <a:rPr lang="en-US" sz="2000" dirty="0"/>
              <a:t> </a:t>
            </a:r>
            <a:r>
              <a:rPr lang="en-US" sz="2000" dirty="0" err="1"/>
              <a:t>Multifactorială</a:t>
            </a:r>
            <a:r>
              <a:rPr lang="en-US" sz="2000" dirty="0"/>
              <a:t> (MFA).</a:t>
            </a:r>
          </a:p>
          <a:p>
            <a:r>
              <a:rPr lang="en-US" sz="2000" b="1" dirty="0" err="1"/>
              <a:t>Consecințe</a:t>
            </a:r>
            <a:r>
              <a:rPr lang="en-US" sz="2000" b="1" dirty="0"/>
              <a:t>:</a:t>
            </a:r>
            <a:r>
              <a:rPr lang="en-US" sz="2000" dirty="0"/>
              <a:t> </a:t>
            </a:r>
            <a:r>
              <a:rPr lang="en-US" sz="2000" dirty="0" err="1"/>
              <a:t>Oprirea</a:t>
            </a:r>
            <a:r>
              <a:rPr lang="en-US" sz="2000" dirty="0"/>
              <a:t> </a:t>
            </a:r>
            <a:r>
              <a:rPr lang="en-US" sz="2000" dirty="0" err="1"/>
              <a:t>conductelor</a:t>
            </a:r>
            <a:r>
              <a:rPr lang="en-US" sz="2000" dirty="0"/>
              <a:t> din </a:t>
            </a:r>
            <a:r>
              <a:rPr lang="en-US" sz="2000" dirty="0" err="1"/>
              <a:t>frica</a:t>
            </a:r>
            <a:r>
              <a:rPr lang="en-US" sz="2000" dirty="0"/>
              <a:t> </a:t>
            </a:r>
            <a:r>
              <a:rPr lang="en-US" sz="2000" dirty="0" err="1"/>
              <a:t>infectării</a:t>
            </a:r>
            <a:r>
              <a:rPr lang="en-US" sz="2000" dirty="0"/>
              <a:t> </a:t>
            </a:r>
            <a:r>
              <a:rPr lang="en-US" sz="2000" dirty="0" err="1"/>
              <a:t>rețelei</a:t>
            </a:r>
            <a:r>
              <a:rPr lang="en-US" sz="2000" dirty="0"/>
              <a:t> </a:t>
            </a:r>
            <a:r>
              <a:rPr lang="en-US" sz="2000" dirty="0" err="1"/>
              <a:t>operaționale</a:t>
            </a:r>
            <a:r>
              <a:rPr lang="en-US" sz="2000" dirty="0"/>
              <a:t> (OT). </a:t>
            </a:r>
            <a:r>
              <a:rPr lang="en-US" sz="2000" dirty="0" err="1"/>
              <a:t>Răscumpărare</a:t>
            </a:r>
            <a:r>
              <a:rPr lang="en-US" sz="2000" dirty="0"/>
              <a:t> </a:t>
            </a:r>
            <a:r>
              <a:rPr lang="en-US" sz="2000" dirty="0" err="1"/>
              <a:t>plătită</a:t>
            </a:r>
            <a:r>
              <a:rPr lang="en-US" sz="2000" dirty="0"/>
              <a:t>: 4,4 mil. USD.</a:t>
            </a:r>
          </a:p>
          <a:p>
            <a:r>
              <a:rPr lang="en-US" sz="2000" b="1" dirty="0" err="1"/>
              <a:t>Lecții</a:t>
            </a:r>
            <a:r>
              <a:rPr lang="en-US" sz="2000" b="1" dirty="0"/>
              <a:t> </a:t>
            </a:r>
            <a:r>
              <a:rPr lang="en-US" sz="2000" b="1" dirty="0" err="1"/>
              <a:t>învățate</a:t>
            </a:r>
            <a:r>
              <a:rPr lang="en-US" sz="2000" b="1" dirty="0"/>
              <a:t>:</a:t>
            </a:r>
            <a:r>
              <a:rPr lang="en-US" sz="2000" dirty="0"/>
              <a:t> </a:t>
            </a:r>
            <a:r>
              <a:rPr lang="en-US" sz="2000" dirty="0" err="1"/>
              <a:t>Lipsa</a:t>
            </a:r>
            <a:r>
              <a:rPr lang="en-US" sz="2000" dirty="0"/>
              <a:t> </a:t>
            </a:r>
            <a:r>
              <a:rPr lang="en-US" sz="2000" dirty="0" err="1"/>
              <a:t>controalelor</a:t>
            </a:r>
            <a:r>
              <a:rPr lang="en-US" sz="2000" dirty="0"/>
              <a:t> de </a:t>
            </a:r>
            <a:r>
              <a:rPr lang="en-US" sz="2000" dirty="0" err="1"/>
              <a:t>bază</a:t>
            </a:r>
            <a:r>
              <a:rPr lang="en-US" sz="2000" dirty="0"/>
              <a:t> </a:t>
            </a:r>
            <a:r>
              <a:rPr lang="en-US" sz="2000" dirty="0" err="1"/>
              <a:t>invalidează</a:t>
            </a:r>
            <a:r>
              <a:rPr lang="en-US" sz="2000" dirty="0"/>
              <a:t> </a:t>
            </a:r>
            <a:r>
              <a:rPr lang="en-US" sz="2000" dirty="0" err="1"/>
              <a:t>complet</a:t>
            </a:r>
            <a:r>
              <a:rPr lang="en-US" sz="2000" dirty="0"/>
              <a:t> </a:t>
            </a:r>
            <a:r>
              <a:rPr lang="en-US" sz="2000" dirty="0" err="1"/>
              <a:t>ecosistemul</a:t>
            </a:r>
            <a:r>
              <a:rPr lang="en-US" sz="2000" dirty="0"/>
              <a:t> de </a:t>
            </a:r>
            <a:r>
              <a:rPr lang="en-US" sz="2000" dirty="0" err="1"/>
              <a:t>securitate</a:t>
            </a:r>
            <a:r>
              <a:rPr lang="en-US" sz="2000" dirty="0"/>
              <a:t>. </a:t>
            </a:r>
            <a:r>
              <a:rPr lang="en-US" sz="2000" dirty="0" err="1"/>
              <a:t>Segmentarea</a:t>
            </a:r>
            <a:r>
              <a:rPr lang="en-US" sz="2000" dirty="0"/>
              <a:t> </a:t>
            </a:r>
            <a:r>
              <a:rPr lang="en-US" sz="2000" dirty="0" err="1"/>
              <a:t>rețelelor</a:t>
            </a:r>
            <a:r>
              <a:rPr lang="en-US" sz="2000" dirty="0"/>
              <a:t> IT/OT </a:t>
            </a:r>
            <a:r>
              <a:rPr lang="en-US" sz="2000" dirty="0" err="1"/>
              <a:t>este</a:t>
            </a:r>
            <a:r>
              <a:rPr lang="en-US" sz="2000" dirty="0"/>
              <a:t> </a:t>
            </a:r>
            <a:r>
              <a:rPr lang="en-US" sz="2000" dirty="0" err="1"/>
              <a:t>absolut</a:t>
            </a:r>
            <a:r>
              <a:rPr lang="en-US" sz="2000" dirty="0"/>
              <a:t> </a:t>
            </a:r>
            <a:r>
              <a:rPr lang="en-US" sz="2000" dirty="0" err="1"/>
              <a:t>critică</a:t>
            </a:r>
            <a:r>
              <a:rPr lang="en-US" sz="2000" dirty="0"/>
              <a:t>.</a:t>
            </a:r>
          </a:p>
        </p:txBody>
      </p:sp>
      <p:pic>
        <p:nvPicPr>
          <p:cNvPr id="5" name="Picture 4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7A687652-FCFF-7517-395F-5A3603ECA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6034" y="6329541"/>
            <a:ext cx="735965" cy="25146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4C37AB2-0781-D5DC-2FFD-91BD6DDCEB11}"/>
              </a:ext>
            </a:extLst>
          </p:cNvPr>
          <p:cNvSpPr/>
          <p:nvPr/>
        </p:nvSpPr>
        <p:spPr>
          <a:xfrm>
            <a:off x="4738255" y="6581001"/>
            <a:ext cx="7453745" cy="277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EFFC94-30F7-0B3F-A1B2-85F586D37A5B}"/>
              </a:ext>
            </a:extLst>
          </p:cNvPr>
          <p:cNvSpPr txBox="1"/>
          <p:nvPr/>
        </p:nvSpPr>
        <p:spPr>
          <a:xfrm>
            <a:off x="4738256" y="6588786"/>
            <a:ext cx="7453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Coordonator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GB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As.Drd.Ing</a:t>
            </a:r>
            <a:r>
              <a:rPr lang="en-GB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Bianca Gu</a:t>
            </a:r>
            <a:r>
              <a:rPr lang="ro-RO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șiță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CF406F-9724-FFF7-59B5-48455846D0EA}"/>
              </a:ext>
            </a:extLst>
          </p:cNvPr>
          <p:cNvSpPr/>
          <p:nvPr/>
        </p:nvSpPr>
        <p:spPr>
          <a:xfrm>
            <a:off x="0" y="6581001"/>
            <a:ext cx="4738255" cy="276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D8BD32-D85B-0FDA-9F84-734382D1E353}"/>
              </a:ext>
            </a:extLst>
          </p:cNvPr>
          <p:cNvSpPr txBox="1"/>
          <p:nvPr/>
        </p:nvSpPr>
        <p:spPr>
          <a:xfrm>
            <a:off x="1" y="6581001"/>
            <a:ext cx="4738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Ciumacenco Victor</a:t>
            </a:r>
          </a:p>
        </p:txBody>
      </p:sp>
      <p:pic>
        <p:nvPicPr>
          <p:cNvPr id="3" name="Picture 2" descr="Colonial hack: How did cyber-attackers shut off pipeline? - BBC News">
            <a:extLst>
              <a:ext uri="{FF2B5EF4-FFF2-40B4-BE49-F238E27FC236}">
                <a16:creationId xmlns:a16="http://schemas.microsoft.com/office/drawing/2014/main" id="{F67207FC-F6C7-84F2-4924-30FBCB68F0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9949" y="1713718"/>
            <a:ext cx="4604067" cy="377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774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CB141-34D4-A6BA-3116-CE5881561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5A7BC6-04CE-AF19-9B7F-1BFA9ECACC1D}"/>
              </a:ext>
            </a:extLst>
          </p:cNvPr>
          <p:cNvSpPr/>
          <p:nvPr/>
        </p:nvSpPr>
        <p:spPr>
          <a:xfrm>
            <a:off x="0" y="1"/>
            <a:ext cx="12192000" cy="566928"/>
          </a:xfrm>
          <a:prstGeom prst="rect">
            <a:avLst/>
          </a:prstGeom>
          <a:gradFill>
            <a:gsLst>
              <a:gs pos="0">
                <a:srgbClr val="002060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0" scaled="1"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1FE308-6F20-E0F4-445E-D75FE6A8E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0"/>
            <a:ext cx="7229392" cy="566929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6. </a:t>
            </a:r>
            <a:r>
              <a:rPr lang="en-US" sz="2800" dirty="0" err="1">
                <a:solidFill>
                  <a:schemeClr val="bg1"/>
                </a:solidFill>
              </a:rPr>
              <a:t>Provocări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actuale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și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direcții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viitoare</a:t>
            </a:r>
            <a:endParaRPr lang="en-US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C65DB9-8E8E-C9FF-A035-1F62C24A3E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67681" y="1781175"/>
            <a:ext cx="8656637" cy="3811588"/>
          </a:xfrm>
        </p:spPr>
        <p:txBody>
          <a:bodyPr>
            <a:normAutofit/>
          </a:bodyPr>
          <a:lstStyle/>
          <a:p>
            <a:r>
              <a:rPr lang="en-US" sz="2000" b="1" dirty="0" err="1"/>
              <a:t>Inteligența</a:t>
            </a:r>
            <a:r>
              <a:rPr lang="en-US" sz="2000" b="1" dirty="0"/>
              <a:t> </a:t>
            </a:r>
            <a:r>
              <a:rPr lang="en-US" sz="2000" b="1" dirty="0" err="1"/>
              <a:t>Artificială</a:t>
            </a:r>
            <a:r>
              <a:rPr lang="en-US" sz="2000" b="1" dirty="0"/>
              <a:t> (AI):</a:t>
            </a:r>
            <a:r>
              <a:rPr lang="en-US" sz="2000" dirty="0"/>
              <a:t> </a:t>
            </a:r>
            <a:r>
              <a:rPr lang="en-US" sz="2000" dirty="0" err="1"/>
              <a:t>Automatizează</a:t>
            </a:r>
            <a:r>
              <a:rPr lang="en-US" sz="2000" dirty="0"/>
              <a:t> </a:t>
            </a:r>
            <a:r>
              <a:rPr lang="en-US" sz="2000" dirty="0" err="1"/>
              <a:t>masiv</a:t>
            </a:r>
            <a:r>
              <a:rPr lang="en-US" sz="2000" dirty="0"/>
              <a:t> </a:t>
            </a:r>
            <a:r>
              <a:rPr lang="en-US" sz="2000" dirty="0" err="1"/>
              <a:t>atacurile</a:t>
            </a:r>
            <a:r>
              <a:rPr lang="en-US" sz="2000" dirty="0"/>
              <a:t>; </a:t>
            </a:r>
            <a:r>
              <a:rPr lang="en-US" sz="2000" dirty="0" err="1"/>
              <a:t>necesită</a:t>
            </a:r>
            <a:r>
              <a:rPr lang="en-US" sz="2000" dirty="0"/>
              <a:t> </a:t>
            </a:r>
            <a:r>
              <a:rPr lang="en-US" sz="2000" dirty="0" err="1"/>
              <a:t>guvernanță</a:t>
            </a:r>
            <a:r>
              <a:rPr lang="en-US" sz="2000" dirty="0"/>
              <a:t> </a:t>
            </a:r>
            <a:r>
              <a:rPr lang="en-US" sz="2000" dirty="0" err="1"/>
              <a:t>internă</a:t>
            </a:r>
            <a:r>
              <a:rPr lang="en-US" sz="2000" dirty="0"/>
              <a:t> </a:t>
            </a:r>
            <a:r>
              <a:rPr lang="en-US" sz="2000" dirty="0" err="1"/>
              <a:t>adecvată</a:t>
            </a:r>
            <a:r>
              <a:rPr lang="en-US" sz="2000" dirty="0"/>
              <a:t> (</a:t>
            </a:r>
            <a:r>
              <a:rPr lang="en-US" sz="2000" dirty="0" err="1"/>
              <a:t>riscul</a:t>
            </a:r>
            <a:r>
              <a:rPr lang="en-US" sz="2000" dirty="0"/>
              <a:t> </a:t>
            </a:r>
            <a:r>
              <a:rPr lang="en-US" sz="2000" dirty="0" err="1"/>
              <a:t>fenomenului</a:t>
            </a:r>
            <a:r>
              <a:rPr lang="en-US" sz="2000" dirty="0"/>
              <a:t> "Shadow AI").</a:t>
            </a:r>
          </a:p>
          <a:p>
            <a:r>
              <a:rPr lang="en-US" sz="2000" b="1" dirty="0" err="1"/>
              <a:t>Cadrul</a:t>
            </a:r>
            <a:r>
              <a:rPr lang="en-US" sz="2000" b="1" dirty="0"/>
              <a:t> </a:t>
            </a:r>
            <a:r>
              <a:rPr lang="en-US" sz="2000" b="1" dirty="0" err="1"/>
              <a:t>Legislativ</a:t>
            </a:r>
            <a:r>
              <a:rPr lang="en-US" sz="2000" b="1" dirty="0"/>
              <a:t> (NIS2 </a:t>
            </a:r>
            <a:r>
              <a:rPr lang="en-US" sz="2000" b="1" dirty="0" err="1"/>
              <a:t>în</a:t>
            </a:r>
            <a:r>
              <a:rPr lang="en-US" sz="2000" b="1" dirty="0"/>
              <a:t> </a:t>
            </a:r>
            <a:r>
              <a:rPr lang="en-US" sz="2000" b="1" dirty="0" err="1"/>
              <a:t>România</a:t>
            </a:r>
            <a:r>
              <a:rPr lang="en-US" sz="2000" b="1" dirty="0"/>
              <a:t>):</a:t>
            </a:r>
            <a:r>
              <a:rPr lang="en-US" sz="2000" dirty="0"/>
              <a:t> </a:t>
            </a:r>
            <a:r>
              <a:rPr lang="en-US" sz="2000" dirty="0" err="1"/>
              <a:t>Conformitatea</a:t>
            </a:r>
            <a:r>
              <a:rPr lang="en-US" sz="2000" dirty="0"/>
              <a:t> </a:t>
            </a:r>
            <a:r>
              <a:rPr lang="en-US" sz="2000" dirty="0" err="1"/>
              <a:t>devine</a:t>
            </a:r>
            <a:r>
              <a:rPr lang="en-US" sz="2000" dirty="0"/>
              <a:t> o </a:t>
            </a:r>
            <a:r>
              <a:rPr lang="en-US" sz="2000" dirty="0" err="1"/>
              <a:t>obligație</a:t>
            </a:r>
            <a:r>
              <a:rPr lang="en-US" sz="2000" dirty="0"/>
              <a:t> </a:t>
            </a:r>
            <a:r>
              <a:rPr lang="en-US" sz="2000" dirty="0" err="1"/>
              <a:t>legală</a:t>
            </a:r>
            <a:r>
              <a:rPr lang="en-US" sz="2000" dirty="0"/>
              <a:t>, </a:t>
            </a:r>
            <a:r>
              <a:rPr lang="en-US" sz="2000" dirty="0" err="1"/>
              <a:t>atrăgând</a:t>
            </a:r>
            <a:r>
              <a:rPr lang="en-US" sz="2000" dirty="0"/>
              <a:t> </a:t>
            </a:r>
            <a:r>
              <a:rPr lang="en-US" sz="2000" dirty="0" err="1"/>
              <a:t>evaluări</a:t>
            </a:r>
            <a:r>
              <a:rPr lang="en-US" sz="2000" dirty="0"/>
              <a:t> de </a:t>
            </a:r>
            <a:r>
              <a:rPr lang="en-US" sz="2000" dirty="0" err="1"/>
              <a:t>risc</a:t>
            </a:r>
            <a:r>
              <a:rPr lang="en-US" sz="2000" dirty="0"/>
              <a:t> </a:t>
            </a:r>
            <a:r>
              <a:rPr lang="en-US" sz="2000" dirty="0" err="1"/>
              <a:t>formale</a:t>
            </a:r>
            <a:r>
              <a:rPr lang="en-US" sz="2000" dirty="0"/>
              <a:t> </a:t>
            </a:r>
            <a:r>
              <a:rPr lang="en-US" sz="2000" dirty="0" err="1"/>
              <a:t>și</a:t>
            </a:r>
            <a:r>
              <a:rPr lang="en-US" sz="2000" dirty="0"/>
              <a:t> </a:t>
            </a:r>
            <a:r>
              <a:rPr lang="en-US" sz="2000" dirty="0" err="1"/>
              <a:t>termene</a:t>
            </a:r>
            <a:r>
              <a:rPr lang="en-US" sz="2000" dirty="0"/>
              <a:t> </a:t>
            </a:r>
            <a:r>
              <a:rPr lang="en-US" sz="2000" dirty="0" err="1"/>
              <a:t>stricte</a:t>
            </a:r>
            <a:r>
              <a:rPr lang="en-US" sz="2000" dirty="0"/>
              <a:t> de </a:t>
            </a:r>
            <a:r>
              <a:rPr lang="en-US" sz="2000" dirty="0" err="1"/>
              <a:t>notificare</a:t>
            </a:r>
            <a:r>
              <a:rPr lang="en-US" sz="2000" dirty="0"/>
              <a:t> a </a:t>
            </a:r>
            <a:r>
              <a:rPr lang="en-US" sz="2000" dirty="0" err="1"/>
              <a:t>incidentelor</a:t>
            </a:r>
            <a:r>
              <a:rPr lang="en-US" sz="2000" dirty="0"/>
              <a:t>.</a:t>
            </a:r>
          </a:p>
          <a:p>
            <a:r>
              <a:rPr lang="en-US" sz="2000" b="1" dirty="0" err="1"/>
              <a:t>Automatizarea</a:t>
            </a:r>
            <a:r>
              <a:rPr lang="en-US" sz="2000" b="1" dirty="0"/>
              <a:t> </a:t>
            </a:r>
            <a:r>
              <a:rPr lang="en-US" sz="2000" b="1" dirty="0" err="1"/>
              <a:t>Conformității</a:t>
            </a:r>
            <a:r>
              <a:rPr lang="en-US" sz="2000" b="1" dirty="0"/>
              <a:t>:</a:t>
            </a:r>
            <a:r>
              <a:rPr lang="en-US" sz="2000" dirty="0"/>
              <a:t> </a:t>
            </a:r>
            <a:r>
              <a:rPr lang="en-US" sz="2000" dirty="0" err="1"/>
              <a:t>Trecerea</a:t>
            </a:r>
            <a:r>
              <a:rPr lang="en-US" sz="2000" dirty="0"/>
              <a:t> </a:t>
            </a:r>
            <a:r>
              <a:rPr lang="en-US" sz="2000" dirty="0" err="1"/>
              <a:t>spre</a:t>
            </a:r>
            <a:r>
              <a:rPr lang="en-US" sz="2000" dirty="0"/>
              <a:t> </a:t>
            </a:r>
            <a:r>
              <a:rPr lang="en-US" sz="2000" dirty="0" err="1"/>
              <a:t>monitorizare</a:t>
            </a:r>
            <a:r>
              <a:rPr lang="en-US" sz="2000" dirty="0"/>
              <a:t> </a:t>
            </a:r>
            <a:r>
              <a:rPr lang="en-US" sz="2000" dirty="0" err="1"/>
              <a:t>continuă</a:t>
            </a:r>
            <a:r>
              <a:rPr lang="en-US" sz="2000" dirty="0"/>
              <a:t> tip „Compliance-as-Code”.</a:t>
            </a:r>
          </a:p>
          <a:p>
            <a:r>
              <a:rPr lang="en-US" sz="2000" b="1" dirty="0" err="1"/>
              <a:t>Securitatea</a:t>
            </a:r>
            <a:r>
              <a:rPr lang="en-US" sz="2000" b="1" dirty="0"/>
              <a:t> </a:t>
            </a:r>
            <a:r>
              <a:rPr lang="en-US" sz="2000" b="1" dirty="0" err="1"/>
              <a:t>Lanțului</a:t>
            </a:r>
            <a:r>
              <a:rPr lang="en-US" sz="2000" b="1" dirty="0"/>
              <a:t> de </a:t>
            </a:r>
            <a:r>
              <a:rPr lang="en-US" sz="2000" b="1" dirty="0" err="1"/>
              <a:t>Aprovizionare</a:t>
            </a:r>
            <a:r>
              <a:rPr lang="en-US" sz="2000" b="1" dirty="0"/>
              <a:t>:</a:t>
            </a:r>
            <a:r>
              <a:rPr lang="en-US" sz="2000" dirty="0"/>
              <a:t> </a:t>
            </a:r>
            <a:r>
              <a:rPr lang="en-US" sz="2000" dirty="0" err="1"/>
              <a:t>Necesitatea</a:t>
            </a:r>
            <a:r>
              <a:rPr lang="en-US" sz="2000" dirty="0"/>
              <a:t> </a:t>
            </a:r>
            <a:r>
              <a:rPr lang="en-US" sz="2000" dirty="0" err="1"/>
              <a:t>auditării</a:t>
            </a:r>
            <a:r>
              <a:rPr lang="en-US" sz="2000" dirty="0"/>
              <a:t> </a:t>
            </a:r>
            <a:r>
              <a:rPr lang="en-US" sz="2000" dirty="0" err="1"/>
              <a:t>stricte</a:t>
            </a:r>
            <a:r>
              <a:rPr lang="en-US" sz="2000" dirty="0"/>
              <a:t> a </a:t>
            </a:r>
            <a:r>
              <a:rPr lang="en-US" sz="2000" dirty="0" err="1"/>
              <a:t>furnizorilor</a:t>
            </a:r>
            <a:r>
              <a:rPr lang="en-US" sz="2000" dirty="0"/>
              <a:t> de tip </a:t>
            </a:r>
            <a:r>
              <a:rPr lang="en-US" sz="2000" dirty="0" err="1"/>
              <a:t>terță</a:t>
            </a:r>
            <a:r>
              <a:rPr lang="en-US" sz="2000" dirty="0"/>
              <a:t> </a:t>
            </a:r>
            <a:r>
              <a:rPr lang="en-US" sz="2000" dirty="0" err="1"/>
              <a:t>parte</a:t>
            </a:r>
            <a:r>
              <a:rPr lang="en-US" sz="2000" dirty="0"/>
              <a:t>.</a:t>
            </a:r>
          </a:p>
        </p:txBody>
      </p:sp>
      <p:pic>
        <p:nvPicPr>
          <p:cNvPr id="5" name="Picture 4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21FB13E3-BD7F-C719-AE49-789CC18AA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6034" y="6329541"/>
            <a:ext cx="735965" cy="25146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7AD8265-E371-0217-876B-EBC59DFE834F}"/>
              </a:ext>
            </a:extLst>
          </p:cNvPr>
          <p:cNvSpPr/>
          <p:nvPr/>
        </p:nvSpPr>
        <p:spPr>
          <a:xfrm>
            <a:off x="4738255" y="6581001"/>
            <a:ext cx="7453745" cy="277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B5B060-BB14-F9C3-D747-5A1BB4226D83}"/>
              </a:ext>
            </a:extLst>
          </p:cNvPr>
          <p:cNvSpPr txBox="1"/>
          <p:nvPr/>
        </p:nvSpPr>
        <p:spPr>
          <a:xfrm>
            <a:off x="4738256" y="6588786"/>
            <a:ext cx="7453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Coordonator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GB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As.Drd.Ing</a:t>
            </a:r>
            <a:r>
              <a:rPr lang="en-GB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Bianca Gu</a:t>
            </a:r>
            <a:r>
              <a:rPr lang="ro-RO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șiță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40799C-F977-4D69-D955-A6AA104739F2}"/>
              </a:ext>
            </a:extLst>
          </p:cNvPr>
          <p:cNvSpPr/>
          <p:nvPr/>
        </p:nvSpPr>
        <p:spPr>
          <a:xfrm>
            <a:off x="0" y="6581001"/>
            <a:ext cx="4738255" cy="276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CAC7E5-75B6-0E67-83B0-C18F2933617E}"/>
              </a:ext>
            </a:extLst>
          </p:cNvPr>
          <p:cNvSpPr txBox="1"/>
          <p:nvPr/>
        </p:nvSpPr>
        <p:spPr>
          <a:xfrm>
            <a:off x="1" y="6581001"/>
            <a:ext cx="4738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Ciumacenco Victor</a:t>
            </a:r>
          </a:p>
        </p:txBody>
      </p:sp>
    </p:spTree>
    <p:extLst>
      <p:ext uri="{BB962C8B-B14F-4D97-AF65-F5344CB8AC3E}">
        <p14:creationId xmlns:p14="http://schemas.microsoft.com/office/powerpoint/2010/main" val="1997103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A0461-9ECB-DF6A-B07C-873EDDB39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9F3E3E2-2C7B-2AEF-E4B2-D48D4C5FD90F}"/>
              </a:ext>
            </a:extLst>
          </p:cNvPr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gradFill>
            <a:gsLst>
              <a:gs pos="0">
                <a:srgbClr val="002060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0" scaled="1"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BD4199-E2F0-5CD9-33DC-99B72D774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-1"/>
            <a:ext cx="7229392" cy="566929"/>
          </a:xfrm>
        </p:spPr>
        <p:txBody>
          <a:bodyPr>
            <a:normAutofit/>
          </a:bodyPr>
          <a:lstStyle/>
          <a:p>
            <a:r>
              <a:rPr lang="ro-RO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8. Concluzii</a:t>
            </a:r>
            <a:endParaRPr lang="en-US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17E622-6565-9DF6-9964-4A6EEB5483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008062" y="2183606"/>
            <a:ext cx="8175875" cy="2490788"/>
          </a:xfrm>
        </p:spPr>
        <p:txBody>
          <a:bodyPr>
            <a:noAutofit/>
          </a:bodyPr>
          <a:lstStyle/>
          <a:p>
            <a:r>
              <a:rPr lang="en-US" sz="2000" dirty="0"/>
              <a:t>ISO 27001 </a:t>
            </a:r>
            <a:r>
              <a:rPr lang="en-US" sz="2000" dirty="0" err="1"/>
              <a:t>și</a:t>
            </a:r>
            <a:r>
              <a:rPr lang="en-US" sz="2000" dirty="0"/>
              <a:t> NIST CSF sunt </a:t>
            </a:r>
            <a:r>
              <a:rPr lang="en-US" sz="2000" dirty="0" err="1"/>
              <a:t>fundamentale</a:t>
            </a:r>
            <a:r>
              <a:rPr lang="en-US" sz="2000" dirty="0"/>
              <a:t> </a:t>
            </a:r>
            <a:r>
              <a:rPr lang="en-US" sz="2000" dirty="0" err="1"/>
              <a:t>și</a:t>
            </a:r>
            <a:r>
              <a:rPr lang="en-US" sz="2000" dirty="0"/>
              <a:t> </a:t>
            </a:r>
            <a:r>
              <a:rPr lang="en-US" sz="2000" dirty="0" err="1"/>
              <a:t>complementare</a:t>
            </a:r>
            <a:r>
              <a:rPr lang="en-US" sz="2000" dirty="0"/>
              <a:t> (</a:t>
            </a:r>
            <a:r>
              <a:rPr lang="en-US" sz="2000" dirty="0" err="1"/>
              <a:t>validare</a:t>
            </a:r>
            <a:r>
              <a:rPr lang="en-US" sz="2000" dirty="0"/>
              <a:t> </a:t>
            </a:r>
            <a:r>
              <a:rPr lang="en-US" sz="2000" dirty="0" err="1"/>
              <a:t>managerială</a:t>
            </a:r>
            <a:r>
              <a:rPr lang="en-US" sz="2000" dirty="0"/>
              <a:t> + </a:t>
            </a:r>
            <a:r>
              <a:rPr lang="en-US" sz="2000" dirty="0" err="1"/>
              <a:t>instrumente</a:t>
            </a:r>
            <a:r>
              <a:rPr lang="en-US" sz="2000" dirty="0"/>
              <a:t> </a:t>
            </a:r>
            <a:r>
              <a:rPr lang="en-US" sz="2000" dirty="0" err="1"/>
              <a:t>tactice</a:t>
            </a:r>
            <a:r>
              <a:rPr lang="en-US" sz="2000" dirty="0"/>
              <a:t>).</a:t>
            </a:r>
          </a:p>
          <a:p>
            <a:r>
              <a:rPr lang="en-US" sz="2000" dirty="0" err="1"/>
              <a:t>Omiterea</a:t>
            </a:r>
            <a:r>
              <a:rPr lang="en-US" sz="2000" dirty="0"/>
              <a:t> </a:t>
            </a:r>
            <a:r>
              <a:rPr lang="en-US" sz="2000" dirty="0" err="1"/>
              <a:t>regulilor</a:t>
            </a:r>
            <a:r>
              <a:rPr lang="en-US" sz="2000" dirty="0"/>
              <a:t> de </a:t>
            </a:r>
            <a:r>
              <a:rPr lang="en-US" sz="2000" dirty="0" err="1"/>
              <a:t>igienă</a:t>
            </a:r>
            <a:r>
              <a:rPr lang="en-US" sz="2000" dirty="0"/>
              <a:t> </a:t>
            </a:r>
            <a:r>
              <a:rPr lang="en-US" sz="2000" dirty="0" err="1"/>
              <a:t>cibernetică</a:t>
            </a:r>
            <a:r>
              <a:rPr lang="en-US" sz="2000" dirty="0"/>
              <a:t> de </a:t>
            </a:r>
            <a:r>
              <a:rPr lang="en-US" sz="2000" dirty="0" err="1"/>
              <a:t>bază</a:t>
            </a:r>
            <a:r>
              <a:rPr lang="en-US" sz="2000" dirty="0"/>
              <a:t> </a:t>
            </a:r>
            <a:r>
              <a:rPr lang="en-US" sz="2000" dirty="0" err="1"/>
              <a:t>expune</a:t>
            </a:r>
            <a:r>
              <a:rPr lang="en-US" sz="2000" dirty="0"/>
              <a:t> </a:t>
            </a:r>
            <a:r>
              <a:rPr lang="en-US" sz="2000" dirty="0" err="1"/>
              <a:t>infrastructurile</a:t>
            </a:r>
            <a:r>
              <a:rPr lang="en-US" sz="2000" dirty="0"/>
              <a:t> </a:t>
            </a:r>
            <a:r>
              <a:rPr lang="en-US" sz="2000" dirty="0" err="1"/>
              <a:t>critice</a:t>
            </a:r>
            <a:r>
              <a:rPr lang="en-US" sz="2000" dirty="0"/>
              <a:t> la </a:t>
            </a:r>
            <a:r>
              <a:rPr lang="en-US" sz="2000" dirty="0" err="1"/>
              <a:t>colaps</a:t>
            </a:r>
            <a:r>
              <a:rPr lang="en-US" sz="2000" dirty="0"/>
              <a:t>.</a:t>
            </a:r>
          </a:p>
          <a:p>
            <a:r>
              <a:rPr lang="en-US" sz="2000" dirty="0" err="1"/>
              <a:t>Managementul</a:t>
            </a:r>
            <a:r>
              <a:rPr lang="en-US" sz="2000" dirty="0"/>
              <a:t> </a:t>
            </a:r>
            <a:r>
              <a:rPr lang="en-US" sz="2000" dirty="0" err="1"/>
              <a:t>riscului</a:t>
            </a:r>
            <a:r>
              <a:rPr lang="en-US" sz="2000" dirty="0"/>
              <a:t> </a:t>
            </a:r>
            <a:r>
              <a:rPr lang="en-US" sz="2000" dirty="0" err="1"/>
              <a:t>cibernetic</a:t>
            </a:r>
            <a:r>
              <a:rPr lang="en-US" sz="2000" dirty="0"/>
              <a:t> nu </a:t>
            </a:r>
            <a:r>
              <a:rPr lang="en-US" sz="2000" dirty="0" err="1"/>
              <a:t>mai</a:t>
            </a:r>
            <a:r>
              <a:rPr lang="en-US" sz="2000" dirty="0"/>
              <a:t> </a:t>
            </a:r>
            <a:r>
              <a:rPr lang="en-US" sz="2000" dirty="0" err="1"/>
              <a:t>este</a:t>
            </a:r>
            <a:r>
              <a:rPr lang="en-US" sz="2000" dirty="0"/>
              <a:t> </a:t>
            </a:r>
            <a:r>
              <a:rPr lang="en-US" sz="2000" dirty="0" err="1"/>
              <a:t>doar</a:t>
            </a:r>
            <a:r>
              <a:rPr lang="en-US" sz="2000" dirty="0"/>
              <a:t> o </a:t>
            </a:r>
            <a:r>
              <a:rPr lang="en-US" sz="2000" dirty="0" err="1"/>
              <a:t>bună</a:t>
            </a:r>
            <a:r>
              <a:rPr lang="en-US" sz="2000" dirty="0"/>
              <a:t> </a:t>
            </a:r>
            <a:r>
              <a:rPr lang="en-US" sz="2000" dirty="0" err="1"/>
              <a:t>practică</a:t>
            </a:r>
            <a:r>
              <a:rPr lang="en-US" sz="2000" dirty="0"/>
              <a:t>, ci o </a:t>
            </a:r>
            <a:r>
              <a:rPr lang="en-US" sz="2000" dirty="0" err="1"/>
              <a:t>responsabilitate</a:t>
            </a:r>
            <a:r>
              <a:rPr lang="en-US" sz="2000" dirty="0"/>
              <a:t> </a:t>
            </a:r>
            <a:r>
              <a:rPr lang="en-US" sz="2000" dirty="0" err="1"/>
              <a:t>juridică</a:t>
            </a:r>
            <a:r>
              <a:rPr lang="en-US" sz="2000" dirty="0"/>
              <a:t> </a:t>
            </a:r>
            <a:r>
              <a:rPr lang="en-US" sz="2000" dirty="0" err="1"/>
              <a:t>și</a:t>
            </a:r>
            <a:r>
              <a:rPr lang="en-US" sz="2000" dirty="0"/>
              <a:t> de business.</a:t>
            </a:r>
          </a:p>
          <a:p>
            <a:r>
              <a:rPr lang="en-US" sz="2000" dirty="0" err="1"/>
              <a:t>Protecția</a:t>
            </a:r>
            <a:r>
              <a:rPr lang="en-US" sz="2000" dirty="0"/>
              <a:t> </a:t>
            </a:r>
            <a:r>
              <a:rPr lang="en-US" sz="2000" dirty="0" err="1"/>
              <a:t>modernă</a:t>
            </a:r>
            <a:r>
              <a:rPr lang="en-US" sz="2000" dirty="0"/>
              <a:t> </a:t>
            </a:r>
            <a:r>
              <a:rPr lang="en-US" sz="2000" dirty="0" err="1"/>
              <a:t>necesită</a:t>
            </a:r>
            <a:r>
              <a:rPr lang="en-US" sz="2000" dirty="0"/>
              <a:t> o </a:t>
            </a:r>
            <a:r>
              <a:rPr lang="en-US" sz="2000" dirty="0" err="1"/>
              <a:t>arhitectură</a:t>
            </a:r>
            <a:r>
              <a:rPr lang="en-US" sz="2000" dirty="0"/>
              <a:t> </a:t>
            </a:r>
            <a:r>
              <a:rPr lang="en-US" sz="2000" dirty="0" err="1"/>
              <a:t>adaptativă</a:t>
            </a:r>
            <a:r>
              <a:rPr lang="en-US" sz="2000" dirty="0"/>
              <a:t> de tip Zero-Trust.</a:t>
            </a:r>
          </a:p>
        </p:txBody>
      </p:sp>
      <p:pic>
        <p:nvPicPr>
          <p:cNvPr id="5" name="Picture 4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5CADE6B5-5807-B6B8-30A5-8A79E4701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6034" y="6329541"/>
            <a:ext cx="735965" cy="25146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3AA6743-6A3C-8B02-FE58-4F9C9129AE89}"/>
              </a:ext>
            </a:extLst>
          </p:cNvPr>
          <p:cNvSpPr/>
          <p:nvPr/>
        </p:nvSpPr>
        <p:spPr>
          <a:xfrm>
            <a:off x="4738255" y="6581001"/>
            <a:ext cx="7453745" cy="277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DC589A-513C-7E3A-7DFA-9763DD474ACD}"/>
              </a:ext>
            </a:extLst>
          </p:cNvPr>
          <p:cNvSpPr txBox="1"/>
          <p:nvPr/>
        </p:nvSpPr>
        <p:spPr>
          <a:xfrm>
            <a:off x="4738256" y="6588786"/>
            <a:ext cx="7453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Coordonator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GB" sz="12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As.Drd.Ing</a:t>
            </a:r>
            <a:r>
              <a:rPr lang="en-GB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Bianca Gu</a:t>
            </a:r>
            <a:r>
              <a:rPr lang="ro-RO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șiță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54C1D9-BDF8-3D43-F025-B5E56447E1C5}"/>
              </a:ext>
            </a:extLst>
          </p:cNvPr>
          <p:cNvSpPr/>
          <p:nvPr/>
        </p:nvSpPr>
        <p:spPr>
          <a:xfrm>
            <a:off x="0" y="6581001"/>
            <a:ext cx="4738255" cy="276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F7D3A4-BFA7-5C3E-12D9-5A279162247E}"/>
              </a:ext>
            </a:extLst>
          </p:cNvPr>
          <p:cNvSpPr txBox="1"/>
          <p:nvPr/>
        </p:nvSpPr>
        <p:spPr>
          <a:xfrm>
            <a:off x="1" y="6581001"/>
            <a:ext cx="4738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</a:t>
            </a: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Ciumacenco Victor</a:t>
            </a:r>
          </a:p>
        </p:txBody>
      </p:sp>
    </p:spTree>
    <p:extLst>
      <p:ext uri="{BB962C8B-B14F-4D97-AF65-F5344CB8AC3E}">
        <p14:creationId xmlns:p14="http://schemas.microsoft.com/office/powerpoint/2010/main" val="36325543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703</TotalTime>
  <Words>772</Words>
  <Application>Microsoft Office PowerPoint</Application>
  <PresentationFormat>Widescreen</PresentationFormat>
  <Paragraphs>84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Caladea</vt:lpstr>
      <vt:lpstr>Calibri</vt:lpstr>
      <vt:lpstr>Office Theme</vt:lpstr>
      <vt:lpstr>Impactul conformității cu ISO 27001 și NIST Cybersecurity Framework asupra organizațiilor</vt:lpstr>
      <vt:lpstr>Cuprins</vt:lpstr>
      <vt:lpstr>1. Introducere</vt:lpstr>
      <vt:lpstr>2.1 Fundamente teoretice</vt:lpstr>
      <vt:lpstr>2.2 Fundamente teoretice</vt:lpstr>
      <vt:lpstr>3. Analiza amenințărilor și vulnerabilităților</vt:lpstr>
      <vt:lpstr>4. Mecanisme de protecție și soluții</vt:lpstr>
      <vt:lpstr>5. Studiu de caz - Colonial Pipeline</vt:lpstr>
      <vt:lpstr>6. Provocări actuale și direcții viitoare</vt:lpstr>
      <vt:lpstr>8. Concluzii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 ciumacenco</dc:creator>
  <cp:lastModifiedBy>victor ciumacenco</cp:lastModifiedBy>
  <cp:revision>7</cp:revision>
  <dcterms:created xsi:type="dcterms:W3CDTF">2026-05-17T12:09:41Z</dcterms:created>
  <dcterms:modified xsi:type="dcterms:W3CDTF">2026-05-18T22:38:16Z</dcterms:modified>
</cp:coreProperties>
</file>