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2" r:id="rId7"/>
    <p:sldId id="261" r:id="rId8"/>
    <p:sldId id="265" r:id="rId9"/>
    <p:sldId id="266" r:id="rId10"/>
    <p:sldId id="267" r:id="rId11"/>
    <p:sldId id="268" r:id="rId12"/>
    <p:sldId id="270" r:id="rId13"/>
    <p:sldId id="272" r:id="rId14"/>
    <p:sldId id="274" r:id="rId15"/>
    <p:sldId id="276" r:id="rId16"/>
    <p:sldId id="280" r:id="rId17"/>
    <p:sldId id="278" r:id="rId18"/>
    <p:sldId id="281" r:id="rId19"/>
    <p:sldId id="284" r:id="rId20"/>
    <p:sldId id="283" r:id="rId21"/>
    <p:sldId id="285" r:id="rId22"/>
    <p:sldId id="282" r:id="rId23"/>
    <p:sldId id="286" r:id="rId24"/>
    <p:sldId id="287" r:id="rId25"/>
    <p:sldId id="291" r:id="rId26"/>
    <p:sldId id="290" r:id="rId27"/>
    <p:sldId id="289" r:id="rId28"/>
    <p:sldId id="293" r:id="rId29"/>
    <p:sldId id="292" r:id="rId30"/>
    <p:sldId id="288" r:id="rId31"/>
    <p:sldId id="295" r:id="rId32"/>
    <p:sldId id="298" r:id="rId33"/>
    <p:sldId id="297" r:id="rId34"/>
    <p:sldId id="294" r:id="rId35"/>
    <p:sldId id="296" r:id="rId36"/>
    <p:sldId id="300" r:id="rId37"/>
    <p:sldId id="301" r:id="rId38"/>
    <p:sldId id="303" r:id="rId39"/>
    <p:sldId id="30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AC11-007E-862D-6B17-208B49A66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EBCC6-ECCD-7A38-366E-DBA8395CE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2224A-DF73-F9FC-492B-9135D807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5F4D3-8969-7385-A0D9-09E61F85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4F95-3BDE-66A7-8B35-E1106125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5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FF84-D862-415C-A0F8-10338342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A990-E8B9-E505-694E-A6FF48A1A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C98F-61A0-A4C1-23EE-E5C2A72E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A8A4C-F637-D7E0-2D16-A6BA1693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4ACDB-FC24-12DD-DAAF-B9FE5ABF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91B9-9DEE-CEE3-083F-8124404F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59C5-8ADF-42E4-EDDF-A119937D4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479A0-F604-0A1F-E1C4-E688A487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3D74D-580F-2783-02F9-C3166146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2AD76-46CA-8D0D-4535-4AC86CA4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3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D265-E52F-B25B-DE11-234D974C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A7956-6EE8-A600-CEE2-20AE29C46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07FB6-14C0-90D5-F622-9535BF4F6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7791-FE71-D065-03CF-35E508AE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B2148-8FBE-0FEF-3F6D-F4A4E751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A4E07-2F69-5E20-059D-B5F1FEDA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4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FB46-CA98-7A70-36C7-55EC2F8E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EBDAA-8235-6A2D-BE6D-42255C1E4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74E88-678D-9197-F8FC-D2001F144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16CE3-5F43-B66F-639B-4AF22F81D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02FAF8-EE72-AA2A-6CC4-58DFF585B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C7877-A9E1-B5B6-8EB2-9AA6E619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8AC7E-641D-84EB-5C78-56D0D123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4D363F-0585-D00D-C218-4518A609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1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29DF-E5F7-F098-81E3-FC7AB94D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48DC57-2D7F-F19F-D052-ADC77F48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D6F70-3339-7E35-2A32-7F7C9488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5FFB0-ADAA-CF43-6A5D-E9F2592C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4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981D8-DFEA-914A-655E-A1D377E1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B0D9D-B489-2747-49AB-94EABBAD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0931-45D1-86FB-CE5B-7F70B634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5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9112-E7C5-A0B0-A20A-8B513FAD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B220-ECF4-8C57-A90A-6B1FDACA6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29D49-4E3D-5DC0-42CE-91E906C4A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26031-0B1C-4D1F-4D2E-3A5E6DCFB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E228F-C13F-82C4-44FC-122AF8A8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495C8-4FB2-5617-34ED-A9F661AA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8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1D0A-C9CB-4010-45B3-AC6F2BBF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09DE4-A9C4-D2C3-10EE-EDCC11EE1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73769-ADD2-7108-8858-1B273BBDC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7DA29-15DE-A495-75AD-3CBCB4F1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5C4DB-C2E7-BACA-2E2F-1FA3AFC6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745F0-B570-C185-CCA4-B5CE0C9D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1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24BB-4C2F-7588-3F37-BEB20E162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90A3B-896F-57C4-9C45-BF42998A4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0ADC-6A9B-F7C5-1FC1-E94D0516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9DBEB-4D97-4044-CDF2-700BEBD6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2A2FD-B63D-CDFF-6B3C-CE5F3616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1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71EA-11EB-16BA-6497-31DFC6985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31A09-9078-AFCC-8246-EAF1B8F6C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C453-9E87-39F2-84E8-AAA8CB5ED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4D8F-2590-134A-FA6E-C620DEDE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256D9-4AD4-F0F1-FF2E-1A626DD2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1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7F30F-56F7-3E30-558C-1C6EDFEC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94EDF-DBD0-B9FF-185A-17C376CEF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78376-8F2F-D179-4B5B-F8696B95D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C226E-F4A9-45DF-BC84-C36E5305A8D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46F76-B568-0F4B-873A-8B9DA4DB8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4EE1F-25E7-DF57-DEA8-7EE624A9D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AE44B-E641-4AA6-A3DF-1529E4723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6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F403-C0C7-923C-1B52-59B0027923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CAA96-628D-950E-7C09-FD4E2BA38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CEBE49-D7BA-D7B5-B118-5AE0FFB5BCE9}"/>
              </a:ext>
            </a:extLst>
          </p:cNvPr>
          <p:cNvSpPr/>
          <p:nvPr/>
        </p:nvSpPr>
        <p:spPr>
          <a:xfrm>
            <a:off x="1524000" y="2397060"/>
            <a:ext cx="9144000" cy="1031939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6930C38-4E86-0E5C-DD31-F0B1E6405631}"/>
              </a:ext>
            </a:extLst>
          </p:cNvPr>
          <p:cNvSpPr txBox="1">
            <a:spLocks/>
          </p:cNvSpPr>
          <p:nvPr/>
        </p:nvSpPr>
        <p:spPr>
          <a:xfrm>
            <a:off x="1524000" y="2266345"/>
            <a:ext cx="9144000" cy="10319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  <a:latin typeface="Calade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Dac</a:t>
            </a:r>
            <a:r>
              <a:rPr lang="ro-RO" sz="2400" b="1" dirty="0">
                <a:solidFill>
                  <a:schemeClr val="bg1"/>
                </a:solidFill>
                <a:latin typeface="Calade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ă vrei să faci un joc video, ce fel de joc ar fi mai profitabil și ar arăta</a:t>
            </a:r>
            <a:r>
              <a:rPr lang="en-US" sz="2400" b="1" dirty="0">
                <a:solidFill>
                  <a:schemeClr val="bg1"/>
                </a:solidFill>
                <a:latin typeface="Calade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400" b="1" dirty="0">
                <a:solidFill>
                  <a:schemeClr val="bg1"/>
                </a:solidFill>
                <a:latin typeface="Calade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succes ?</a:t>
            </a:r>
            <a:endParaRPr lang="en-US" sz="2400" dirty="0">
              <a:solidFill>
                <a:schemeClr val="bg1"/>
              </a:solidFill>
              <a:latin typeface="Calade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3679580-DD94-50B6-7373-60FF00E49C32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Student: Ciumacenco Victor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Anul 3, Sec</a:t>
            </a:r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ția 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A6F83-43AF-A1DE-EADF-FEF46263340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3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0622A06-A4C6-4E91-8147-095A8152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7C8FE9-A986-84B3-FE64-2C6EA486D6BF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49323-3418-5E99-2E38-92779754B391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3A879-441F-C6B7-0F2F-FD2709FFBBA0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166520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1CFC64-92F5-3708-9548-056387D14F53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4FE909-7CC9-A8ED-D0B3-09E62F7442B6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3932237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Cuprins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B3A4613-2A7E-E88F-01D5-06BDB74F61BB}"/>
              </a:ext>
            </a:extLst>
          </p:cNvPr>
          <p:cNvSpPr txBox="1">
            <a:spLocks/>
          </p:cNvSpPr>
          <p:nvPr/>
        </p:nvSpPr>
        <p:spPr>
          <a:xfrm>
            <a:off x="1429867" y="1785869"/>
            <a:ext cx="9332265" cy="32862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	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Introducere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Data Cleaning &amp; Preprocessing</a:t>
            </a:r>
            <a:r>
              <a:rPr lang="en-US" sz="1600" dirty="0"/>
              <a:t> (</a:t>
            </a:r>
            <a:r>
              <a:rPr lang="en-US" sz="1600" dirty="0" err="1"/>
              <a:t>Curățarea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pregătirea</a:t>
            </a:r>
            <a:r>
              <a:rPr lang="en-US" sz="1600" dirty="0"/>
              <a:t> </a:t>
            </a:r>
            <a:r>
              <a:rPr lang="en-US" sz="1600" dirty="0" err="1"/>
              <a:t>datelor</a:t>
            </a:r>
            <a:r>
              <a:rPr lang="en-US" sz="1600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Exploratory Data Analysis - EDA</a:t>
            </a:r>
            <a:r>
              <a:rPr lang="en-US" sz="1600" dirty="0"/>
              <a:t> (</a:t>
            </a:r>
            <a:r>
              <a:rPr lang="en-US" sz="1600" dirty="0" err="1"/>
              <a:t>Vizualizarea</a:t>
            </a:r>
            <a:r>
              <a:rPr lang="en-US" sz="1600" dirty="0"/>
              <a:t> </a:t>
            </a:r>
            <a:r>
              <a:rPr lang="en-US" sz="1600" dirty="0" err="1"/>
              <a:t>datelor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distribuții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volume).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Sentiment Analysis</a:t>
            </a:r>
            <a:r>
              <a:rPr lang="en-US" sz="1600" dirty="0"/>
              <a:t> (Analiza </a:t>
            </a:r>
            <a:r>
              <a:rPr lang="en-US" sz="1600" dirty="0" err="1"/>
              <a:t>polarității</a:t>
            </a:r>
            <a:r>
              <a:rPr lang="en-US" sz="1600" dirty="0"/>
              <a:t> review-</a:t>
            </a:r>
            <a:r>
              <a:rPr lang="en-US" sz="1600" dirty="0" err="1"/>
              <a:t>urilor</a:t>
            </a:r>
            <a:r>
              <a:rPr lang="en-US" sz="1600" dirty="0"/>
              <a:t> - </a:t>
            </a:r>
            <a:r>
              <a:rPr lang="en-US" sz="1600" dirty="0" err="1"/>
              <a:t>cât</a:t>
            </a:r>
            <a:r>
              <a:rPr lang="en-US" sz="1600" dirty="0"/>
              <a:t> de </a:t>
            </a:r>
            <a:r>
              <a:rPr lang="en-US" sz="1600" dirty="0" err="1"/>
              <a:t>pozitiv</a:t>
            </a:r>
            <a:r>
              <a:rPr lang="en-US" sz="1600" dirty="0"/>
              <a:t>/</a:t>
            </a:r>
            <a:r>
              <a:rPr lang="en-US" sz="1600" dirty="0" err="1"/>
              <a:t>negativ</a:t>
            </a:r>
            <a:r>
              <a:rPr lang="en-US" sz="1600" dirty="0"/>
              <a:t> e feedback-ul).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Natural Language Processing - </a:t>
            </a:r>
            <a:r>
              <a:rPr lang="en-US" sz="1600" b="1" dirty="0" err="1"/>
              <a:t>PoS</a:t>
            </a:r>
            <a:r>
              <a:rPr lang="en-US" sz="1600" b="1" dirty="0"/>
              <a:t> Tagging</a:t>
            </a:r>
            <a:r>
              <a:rPr lang="en-US" sz="1600" dirty="0"/>
              <a:t> (</a:t>
            </a:r>
            <a:r>
              <a:rPr lang="en-US" sz="1600" dirty="0" err="1"/>
              <a:t>Extragerea</a:t>
            </a:r>
            <a:r>
              <a:rPr lang="en-US" sz="1600" dirty="0"/>
              <a:t> de substantive/</a:t>
            </a:r>
            <a:r>
              <a:rPr lang="en-US" sz="1600" dirty="0" err="1"/>
              <a:t>verbe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profilele</a:t>
            </a:r>
            <a:r>
              <a:rPr lang="en-US" sz="1600" dirty="0"/>
              <a:t> SWOT).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Language Models &amp; Embeddings</a:t>
            </a:r>
            <a:r>
              <a:rPr lang="en-US" sz="1600" dirty="0"/>
              <a:t> (</a:t>
            </a:r>
            <a:r>
              <a:rPr lang="en-US" sz="1600" dirty="0" err="1"/>
              <a:t>Utilizarea</a:t>
            </a:r>
            <a:r>
              <a:rPr lang="en-US" sz="1600" dirty="0"/>
              <a:t> </a:t>
            </a:r>
            <a:r>
              <a:rPr lang="en-US" sz="1600" dirty="0" err="1"/>
              <a:t>modelului</a:t>
            </a:r>
            <a:r>
              <a:rPr lang="en-US" sz="1600" dirty="0"/>
              <a:t> Transformer all-MiniLM-L6-v2).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Recommendation &amp; Competitive Systems</a:t>
            </a:r>
            <a:r>
              <a:rPr lang="en-US" sz="1600" dirty="0"/>
              <a:t> (</a:t>
            </a:r>
            <a:r>
              <a:rPr lang="en-US" sz="1600" dirty="0" err="1"/>
              <a:t>Calculul</a:t>
            </a:r>
            <a:r>
              <a:rPr lang="en-US" sz="1600" dirty="0"/>
              <a:t> de </a:t>
            </a:r>
            <a:r>
              <a:rPr lang="en-US" sz="1600" dirty="0" err="1"/>
              <a:t>similaritate</a:t>
            </a:r>
            <a:r>
              <a:rPr lang="en-US" sz="1600" dirty="0"/>
              <a:t> Cosine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matricea</a:t>
            </a:r>
            <a:r>
              <a:rPr lang="en-US" sz="1600" dirty="0"/>
              <a:t> de </a:t>
            </a:r>
            <a:r>
              <a:rPr lang="en-US" sz="1600" dirty="0" err="1"/>
              <a:t>amenințări</a:t>
            </a:r>
            <a:r>
              <a:rPr lang="en-US" sz="1600" dirty="0"/>
              <a:t>/</a:t>
            </a:r>
            <a:r>
              <a:rPr lang="en-US" sz="1600" dirty="0" err="1"/>
              <a:t>pivotare</a:t>
            </a:r>
            <a:r>
              <a:rPr lang="en-US" sz="1600" dirty="0"/>
              <a:t>).</a:t>
            </a:r>
          </a:p>
        </p:txBody>
      </p:sp>
      <p:pic>
        <p:nvPicPr>
          <p:cNvPr id="7" name="Picture 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CA0A9C8C-4E1D-EDAA-EA03-6E9F7572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B610E2-8523-E1E8-087B-38A2BF8853D6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1E23BA-D78C-370F-F9EE-76797D2B7C8D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25891-1ACA-FDFD-0192-DFFAABFA898E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330472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89D5D6-2541-EDE4-6CB2-565D056357D6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518F39-BFF4-293E-8AF0-9448CB929324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3932237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Introducere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74F10-E951-2D6F-AF25-5CF606D8F3F2}"/>
              </a:ext>
            </a:extLst>
          </p:cNvPr>
          <p:cNvSpPr txBox="1">
            <a:spLocks/>
          </p:cNvSpPr>
          <p:nvPr/>
        </p:nvSpPr>
        <p:spPr>
          <a:xfrm>
            <a:off x="1429867" y="1928608"/>
            <a:ext cx="9332265" cy="32862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o-RO" sz="2000" dirty="0"/>
              <a:t>Întrebarea </a:t>
            </a:r>
            <a:r>
              <a:rPr lang="en-US" sz="2000" dirty="0"/>
              <a:t>de la care </a:t>
            </a:r>
            <a:r>
              <a:rPr lang="en-US" sz="2000" dirty="0" err="1"/>
              <a:t>porne</a:t>
            </a:r>
            <a:r>
              <a:rPr lang="ro-RO" sz="2000" dirty="0"/>
              <a:t>ște acest proiect este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o-RO" sz="2000" dirty="0"/>
              <a:t>Dacă aș dori să incep creația unui nou joc video, ce categorie, gen si feature set iar da cea mai mare șansă de succes și dacă extisă secțiuni a pieții ce sunt </a:t>
            </a:r>
            <a:r>
              <a:rPr lang="en-US" sz="2000" dirty="0"/>
              <a:t>“up for grabs”. </a:t>
            </a:r>
            <a:endParaRPr lang="ro-RO" sz="2000" dirty="0"/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62A7CE11-B884-CFC4-896E-317A13E7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640240-3100-59F4-D787-36A0C82B0950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F9B6B-FE0A-9128-54DA-B2F05F734B0A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EDD56-5418-0DF8-F7BD-95FD74D10121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2338898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C37E9A-9BE8-3435-4318-70E4CF02A252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5F4B87-00AB-A59B-D12C-F3B681BC9BA0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5256213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Prezentarea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Dataseturilor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B91D6F3-7E9D-A8AE-EF6E-E52AF1FE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35C4A4-A89E-526C-5A66-037C341E93D7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406D69-45B2-4EFE-2D89-8CF5CD35FD1B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84F57-9D92-4F08-2C07-8B9D78262EA2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9D784C-85FF-2F9A-0150-F9495FDD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117" y="1288181"/>
            <a:ext cx="1543265" cy="34866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078BF1-CAE0-7333-5682-E723B8E49955}"/>
              </a:ext>
            </a:extLst>
          </p:cNvPr>
          <p:cNvSpPr txBox="1"/>
          <p:nvPr/>
        </p:nvSpPr>
        <p:spPr>
          <a:xfrm>
            <a:off x="206477" y="6193661"/>
            <a:ext cx="6184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https://www.kaggle.com/datasets/crainbramp/steam-dataset-2025-multi-modal-gaming-analytics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D6FB4E-7A74-0E29-41A0-2C30B0AAF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03" y="1137607"/>
            <a:ext cx="8426246" cy="409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4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CE68-6F9F-D96F-8AD4-34F6A2D0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E2B57A-4D41-07DA-34F2-096A91311AC8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D921E6-A23C-FD67-E119-9858C5C7486D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6386923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Prezentarea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Dataseturilor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Principalul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392CEED-5C80-51D5-7695-5CDEA43A3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A91A18-7F2A-AE57-D0CF-19F2181F1269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28D071-CD4F-95DE-B612-BFD7576E0BA4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DC661A-2217-9A51-2495-924F91E97601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200BD-C7B2-C220-706A-8BFE850CE2A3}"/>
              </a:ext>
            </a:extLst>
          </p:cNvPr>
          <p:cNvSpPr txBox="1">
            <a:spLocks/>
          </p:cNvSpPr>
          <p:nvPr/>
        </p:nvSpPr>
        <p:spPr>
          <a:xfrm>
            <a:off x="1429866" y="818388"/>
            <a:ext cx="9332265" cy="628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Application data set</a:t>
            </a:r>
            <a:endParaRPr lang="ro-RO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1D17D-44B5-4966-36B8-A908DF061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01057"/>
            <a:ext cx="12192000" cy="502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66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16871-C3DB-6088-2226-C59B20B8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26ED57-B192-4137-B17B-144D35D56D53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85C407-25F5-81E2-CBE0-2A74B3892BDE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11175232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Prezentarea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Dataseturilor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Al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doilea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</a:t>
            </a:r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ță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83C5271A-A07A-9AA3-F17D-085C5F6DD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9D172E0-60C5-B73F-4166-F3C5427B93F8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395886-0FA9-39C1-0D3C-468AAB5DD95E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DD6378-76EE-F974-32EF-149C1628F73F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3999D0-75F3-95C8-87EF-481B5A5B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0082"/>
            <a:ext cx="12192000" cy="4959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63A60-3CEB-AA95-5F5D-4916CE67C3FC}"/>
              </a:ext>
            </a:extLst>
          </p:cNvPr>
          <p:cNvSpPr txBox="1">
            <a:spLocks/>
          </p:cNvSpPr>
          <p:nvPr/>
        </p:nvSpPr>
        <p:spPr>
          <a:xfrm>
            <a:off x="1429867" y="818388"/>
            <a:ext cx="9332265" cy="628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Reviews data set</a:t>
            </a: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2022149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FE5216-E4C7-92AC-3D9E-4C1CEC388AC1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D77DCB-1FE3-2F38-B5CA-2190D2845226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6593400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Prezentarea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Dataseturilor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Merging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3F291EB-DFFA-F058-4F37-7F87E709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CFC0A1-0A1D-D90C-97D9-2CDEAD9DF173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5F885C-7834-7C40-2236-F0D68D7D3EF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8AB7D1-AA0D-D623-9E08-EE114A6277B6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7CDA1-386E-B9AE-9325-AAAC0DAC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2" t="3670" r="2237"/>
          <a:stretch>
            <a:fillRect/>
          </a:stretch>
        </p:blipFill>
        <p:spPr>
          <a:xfrm>
            <a:off x="1209367" y="728566"/>
            <a:ext cx="9773266" cy="56009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1843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CDEE7-3556-6AE3-6369-C52260FC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8463C2-745B-0600-7305-A7C80BC1C2BD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E4AEDB-B287-0B65-9E85-6078919B6F59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A7A0527-3696-4715-484B-7F330FA8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B50BE53-BAC6-057C-7D41-9E15B4C03812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081B84-E933-5356-5B6A-6CF27263EF2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1A7D7-BA5B-40B9-2BF6-027B38163BA6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C97988-38FA-077E-55C5-781A884D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915" y="1357023"/>
            <a:ext cx="7840169" cy="414395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9987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8F3E-48C6-DD5D-0DE5-1B125D52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4B02D8-186D-88B1-8139-DD992C6F0C6F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A4117CD-5D14-42C4-34C4-0C99DF3DB054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2AF8EBE-7411-CC1C-6616-790BFEF71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1BBFDC-3610-9054-EC1B-92DC4CBE7B26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729DFE-81B1-8433-A3BC-5F99E9017909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15650-E3BD-6A1B-2975-DCE3E2982422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776FE7-79F1-7207-3F64-EC698ED67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284" y="1542787"/>
            <a:ext cx="7573432" cy="37724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6780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FF3D-A92C-105C-C550-B1E21A1F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7E5788-640E-7B3F-902F-9B4F073CBDF7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06FFC1-2FC9-799F-221D-D7A0AABDCE7D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EE09EB2-0E45-3EE6-68E2-8D6F45A03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469934-161F-1150-6007-E205F1283BAC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DE6228-A538-FAB7-0CBD-69B6EF87BBEE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FF870F-2C39-3FCF-895F-0D050BB2BD1F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E6129-B4DA-6DBF-42C9-1C61D2FC3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37" y="740869"/>
            <a:ext cx="5460655" cy="561255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2BA1A2-9A32-3D28-0DB6-39EBF5AF7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938" y="965508"/>
            <a:ext cx="5754125" cy="516327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690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7621B-233A-4377-D80F-81FB12FFB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90C0B0-0A65-11B5-E8C3-B5C367A2F71D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0C6E794-4FF6-202F-2BAD-9C22285F8FD6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98D5FFA-EEC7-3D0F-93A2-F98B15A9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BEAE2F0-CD8D-BA97-E11A-0A6A7D4AF09E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0203CF-3B92-7CE0-D650-02D3DADAA6A6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B8C6A-8F85-C9D0-C1E9-3133254A094B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46097-E70A-FDF2-8C99-45BF59A5D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80" y="928111"/>
            <a:ext cx="7937008" cy="50017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866B6D-866E-2806-818F-31B6A9CC1E40}"/>
              </a:ext>
            </a:extLst>
          </p:cNvPr>
          <p:cNvSpPr txBox="1"/>
          <p:nvPr/>
        </p:nvSpPr>
        <p:spPr>
          <a:xfrm>
            <a:off x="8949117" y="2521059"/>
            <a:ext cx="25069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ția (generală) prețurilor tuturor produselor, observăm că suma de 5 USD este cea mai populară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un pre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 mic al produsului il va face mai atractiv, exită multa competiție la prețuri mici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687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E143-7706-6E2B-8F18-2332E43A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8E40FC-8974-054B-CC17-3CA2AEC28256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39F2D3F-D439-97C4-D15D-BF841D66DA0E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84DCFF4-B27D-59FD-A220-A5BFDE93F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6957EF2-28BA-6537-C8F8-5E9A12A591DC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435FF3-E070-4608-59A3-C07F5BEEE086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0C973-5C68-6E1E-D5AF-FF00E3287FC2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45F1CF-DB1C-A382-E3D0-01F535B65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7" y="928111"/>
            <a:ext cx="7699263" cy="5001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82AB7-9817-6F11-FE58-E8A19BEE77C8}"/>
              </a:ext>
            </a:extLst>
          </p:cNvPr>
          <p:cNvSpPr txBox="1"/>
          <p:nvPr/>
        </p:nvSpPr>
        <p:spPr>
          <a:xfrm>
            <a:off x="9391643" y="2644170"/>
            <a:ext cx="17414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Prețul nu e singurul indicator al succesului unui produs, succesul poate fi chiar și la un preț mare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8244A-04D9-6EFF-811F-95FD5FF2806D}"/>
              </a:ext>
            </a:extLst>
          </p:cNvPr>
          <p:cNvSpPr txBox="1"/>
          <p:nvPr/>
        </p:nvSpPr>
        <p:spPr>
          <a:xfrm>
            <a:off x="9391642" y="4967915"/>
            <a:ext cx="17414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Dacă aduni numerele sunt 83 de produse, restul de 17 sunt gratuite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55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7DFAE-B0E8-DF93-F94F-55187B74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14981F8-345B-8DB0-408B-44C13028D8F7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A0243E-F8F4-8083-8E92-099102249814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7FEA835-B302-D16D-1B98-1B0A90C37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6178D3-25C1-08AC-191C-78366328F94A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8E02EF-1846-7534-3153-9ADCD4E872B3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99464C-6DA1-D05D-E126-A18BB4995988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2E59AF-FEDE-E115-85A5-8D1C379D4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18" y="1321769"/>
            <a:ext cx="11125563" cy="421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82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DC0B-DBDE-E85E-9013-F30CF818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D375CD-5E8F-25BB-284C-953D75E27B23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56034E4-11C9-B16C-4996-24ECE1AA564C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741001C-0149-19AC-39BA-ED7257A66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FFADD9-26B5-4591-C58E-6ABBB42EE463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CCCBCC-E8C2-A972-5EA2-8633F57BB7AF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0DDE0D-FF49-A062-C6DB-05101A3485C9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B5E54-242C-3197-5C53-139290691D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0" r="1843" b="2321"/>
          <a:stretch>
            <a:fillRect/>
          </a:stretch>
        </p:blipFill>
        <p:spPr>
          <a:xfrm>
            <a:off x="1159497" y="818389"/>
            <a:ext cx="9803876" cy="419667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AFF431-7004-CE03-A426-86ABC9EDB0E2}"/>
              </a:ext>
            </a:extLst>
          </p:cNvPr>
          <p:cNvSpPr txBox="1"/>
          <p:nvPr/>
        </p:nvSpPr>
        <p:spPr>
          <a:xfrm>
            <a:off x="1891771" y="5384136"/>
            <a:ext cx="8339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Sentimentul playerilor pentru top 15 games, succesul este reflectat în sentimentul playerilor și e important să analizam ce anume le place lor 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06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44AF-4753-16A9-9B76-B6169C0E8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1F12BC-47C7-8FA8-E044-2F917D3AD501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969301-5AFE-FB54-7B9F-C06DB88C0584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0502BDF-B971-800C-1574-E6654B9F2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01E15B-8D59-EFBB-6E56-95C890BC720D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420885-991C-6A41-9E1C-B42F5566AEC4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4099DD-2B83-4DBA-1470-6E400DD38C65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6B76A1-546E-28A4-6A73-58C964C33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886" y="814959"/>
            <a:ext cx="8419180" cy="5218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DC4160-4174-4344-C5B7-1101A7114F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13940" r="1843" b="79612"/>
          <a:stretch>
            <a:fillRect/>
          </a:stretch>
        </p:blipFill>
        <p:spPr>
          <a:xfrm>
            <a:off x="1192538" y="6052542"/>
            <a:ext cx="9803876" cy="2769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5459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02D6-28F5-3741-F025-206F4EB1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B847EA-C2B3-F1AB-0774-E44E8257465D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813DBD-BB0C-972D-D6E3-EDA516AF9267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88AB399-CD73-A83B-EB6E-6E4F4C947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01BB5D-0EAD-3CFD-18A7-B44DDA49D9AC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F16965-193F-E1BA-7358-432C2B6A82DD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CC2E67-4804-7122-6DC7-A3C41DBD62B1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789894-250F-ABC6-B915-055961779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886" y="814959"/>
            <a:ext cx="8419180" cy="5218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0EB405-2A45-02F6-3193-F68A9F2CA3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20751" r="1843" b="72802"/>
          <a:stretch>
            <a:fillRect/>
          </a:stretch>
        </p:blipFill>
        <p:spPr>
          <a:xfrm>
            <a:off x="1192538" y="6052542"/>
            <a:ext cx="9803876" cy="2769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698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A989-08A7-0691-870E-A1D7347F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4874AB-7708-A504-79BB-27D2C05A9AC4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974712-50B3-F4E4-707C-F4802A88E6B5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04A9AFB5-DA5A-6A11-F45C-0AECF3480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02BAA0-C71F-1B64-383E-49901AECA8F5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9368C2-BEE0-FE0A-0097-F6E1EECC7383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75C0CE-2884-4B28-8FD7-EC9A4BF1417D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09509E-6821-D1C2-184C-A67BDD5C9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886" y="814959"/>
            <a:ext cx="8419180" cy="5218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4DE08-8BCE-8E2F-2E85-9F7769B714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69702" r="1843" b="23851"/>
          <a:stretch>
            <a:fillRect/>
          </a:stretch>
        </p:blipFill>
        <p:spPr>
          <a:xfrm>
            <a:off x="1192538" y="6052542"/>
            <a:ext cx="9803876" cy="2769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4377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EAAB9-FE34-F0A8-8162-6B9CAF9C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325235-681F-9FEC-91E1-BE606ECE0E8E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F4097C-3DFA-62A2-3A42-A0AEE71E2996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297D7D9-AEF2-C838-05B3-49105171D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3160206-DAEB-16AF-3851-DD17819C0086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AEB9EC-C93A-B29C-2C49-6B3A88BD747D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4704F8-F8E4-F10F-9BE2-6BE8B672377D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01B06-6FAC-CAE9-354F-87891478D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886" y="814959"/>
            <a:ext cx="8419180" cy="5218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7B5656-E42D-171F-B9E0-B1DA298D0E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84484" r="1843" b="9069"/>
          <a:stretch>
            <a:fillRect/>
          </a:stretch>
        </p:blipFill>
        <p:spPr>
          <a:xfrm>
            <a:off x="1192538" y="6052542"/>
            <a:ext cx="9803876" cy="2769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5287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8E1D4-974D-903E-16E3-4C01FCE2E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DA2698-70AD-9ABA-6643-4EAFF135E320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67AC719-4A8F-3A8C-2531-4B22ADEC712A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671CAA7-2B6A-BFF2-4F0F-F6793515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846A63-F26A-0F93-9B06-71C90D3F3C74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24EAF8-1B50-B403-E7AB-E0ACDED3B353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A21FF0-2E8B-ED1F-F980-5EA183D63112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EF1B31-4F48-186E-50E3-AA4A66F0B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236" y="814959"/>
            <a:ext cx="8424479" cy="5218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ABBA2E-B5F0-6805-D990-644FAB039E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91232" r="1843" b="2321"/>
          <a:stretch>
            <a:fillRect/>
          </a:stretch>
        </p:blipFill>
        <p:spPr>
          <a:xfrm>
            <a:off x="1192537" y="6052542"/>
            <a:ext cx="9803876" cy="2769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1487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E54A-1C16-AE46-6438-8940A9638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5DCD-64E8-8A0B-653D-0768BB565ABE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F82F47-0810-33E6-EE88-F4BFDCC426F9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9405147-C897-F61F-9756-32C3A1B51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08C146-4A22-1E3A-B27B-4D1CAEF961D6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40EC41-EEB7-BE6D-3F72-D2811CD776B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6422D-9EF2-0A4F-5A87-64AD9BB95D87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438817-2F2A-2E66-CB56-5189FF1B4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886" y="814959"/>
            <a:ext cx="8419180" cy="5218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492DD6-B5B2-002D-59AD-E73ECA58E0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0" t="77302" r="1843" b="16251"/>
          <a:stretch>
            <a:fillRect/>
          </a:stretch>
        </p:blipFill>
        <p:spPr>
          <a:xfrm>
            <a:off x="1192538" y="6052541"/>
            <a:ext cx="9803876" cy="277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3374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51F67-EEBB-5591-1F56-00DD0A52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6DAB25E-636A-775C-7B4E-A26C825962FF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701BFF-377C-BC60-B573-142CC4218D76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86AA1C5F-1768-5558-368E-0D4ED0C6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B98A493-F68D-48E2-DF59-50D71470223E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D269D4-00CC-2DD7-E329-3338F3FC5899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84B10D-0D65-CEE8-E300-3AA1C1B6223A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AC3F0-3344-558B-AE19-A21D4BC61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068" y="1519168"/>
            <a:ext cx="6223931" cy="3858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94CE2E-8108-CFFE-8F82-F547B87C2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0699"/>
            <a:ext cx="5968069" cy="388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29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D6F1-4EC8-3909-B044-BEA07544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80A811-DF4C-F6DD-0C99-3B9E7BF45590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8EBE07D-3EF4-E5DD-4503-EEFF17F89F0A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9872DC6-D4BA-1EFC-381E-DD6456712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2D49C4-DDBE-BBD4-C3AF-DABF9B69A114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685CAB-BA93-815F-02A6-7986AF3F0100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6F817-732A-D8AF-1C26-F60765E6E04C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0BD8D1-3FA1-509A-BEB7-2E4DC5418E03}"/>
              </a:ext>
            </a:extLst>
          </p:cNvPr>
          <p:cNvSpPr txBox="1"/>
          <p:nvPr/>
        </p:nvSpPr>
        <p:spPr>
          <a:xfrm>
            <a:off x="2885347" y="2890391"/>
            <a:ext cx="6421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Acum că avem o idee de ce le place la playeri, trebuie să decidem din ce gen si categorie să facă parte. </a:t>
            </a:r>
            <a:b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fi bine să ne informăm de ce competiție avem și dacă există blind spots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3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31DF-8B1F-C35D-353F-1A276409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0C205A-3AFB-E9FE-E0FD-B7F7CFD19B32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A0B8158-61AB-21AC-76FD-25E1268E85FB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Genres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9244637-CAA3-AE36-A6C4-10C2F6EA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CD7948-1B62-AFC6-3973-035BFA04F9FC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B7024A-5CDC-D5B5-D0CF-CC090F06BA7B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6028D-23CA-16FD-5730-A1119005CB74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F19DF-E429-0EFC-2432-40B0F95AA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13" y="1240747"/>
            <a:ext cx="9237726" cy="436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30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93C5-B713-1F33-A001-D1E8FB29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BE1B65-1E61-2E4B-F20A-E86C071D943E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A8E4ABD-E38A-D25D-7C56-2485BCEC24DD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3FC0E79-9BCB-0A5A-45C4-22F6F633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83DB29F-0D06-3540-9E8E-A2CA4456D5DB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60F53B-9B3D-2E84-C63E-943ACE747D13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E65C3-3A7A-0A9C-65D8-5C65213A11D6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2AAD6-9F6F-2DC9-0117-06B811E1A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13" y="1192521"/>
            <a:ext cx="9237726" cy="446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9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51CF9-FC96-BDA4-28CE-A3238B687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34A6D6-C797-CD04-1B0D-31CB3F5D2164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C1F2CD-A45A-358D-FC77-0C5A7B6F6AF5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EC74012-915B-56AA-D87C-1D5D1046B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5079CD5-4218-1568-9608-6A63A0D5849C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4C902-A308-051D-0056-31655DD0D730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875A6-B069-E22F-8B65-90144D2B2A8B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E40DA2-017E-4FD9-3E14-D253D3119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13" y="1186591"/>
            <a:ext cx="9237725" cy="44756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B157AA-ADC3-8BF3-3B62-A06C04C261B7}"/>
              </a:ext>
            </a:extLst>
          </p:cNvPr>
          <p:cNvSpPr txBox="1"/>
          <p:nvPr/>
        </p:nvSpPr>
        <p:spPr>
          <a:xfrm>
            <a:off x="1569037" y="5913725"/>
            <a:ext cx="9050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Oare avem un joc care e principalul motiv pentru care un gen se află în top ? Dacă excludem top 15 jocuri 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635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13E9-3EC5-AC80-6AAC-284B200EA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697AE3-0C2D-B293-37D1-B7D162309F82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45BE7A-5AEF-F5D7-54E7-914B0D10E913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F6127E2-BF4A-90F7-4D02-6954AAC8F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AC71D96-EBBC-B058-ED5D-FC771B12F4A7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67AB0A-120E-B829-DF83-2EDE96E9EB6E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37B490-598C-CD45-7C36-3BF1C1C41105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FCA1F2-451E-2C0E-FFF6-719272ADF4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998"/>
          <a:stretch>
            <a:fillRect/>
          </a:stretch>
        </p:blipFill>
        <p:spPr>
          <a:xfrm>
            <a:off x="1615581" y="818388"/>
            <a:ext cx="8960838" cy="570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39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ECCB-698C-9458-08F6-1247DA32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FDC15-5E65-B862-9E45-4F8AE937B99C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D036337-0BB6-2572-ADEC-981708F7452E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621E0A0-F063-A71B-1808-72AC8B3E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187D11-F7E5-57A8-81EA-0E8CC8BD8B52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08E129-8A9F-7C1B-7BAE-693E07294C4B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412DE-843A-FA16-463E-25E9F2C71695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2837A7-17FB-E555-9B1F-CE5D9822F5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476"/>
          <a:stretch>
            <a:fillRect/>
          </a:stretch>
        </p:blipFill>
        <p:spPr>
          <a:xfrm>
            <a:off x="887573" y="1369599"/>
            <a:ext cx="10416854" cy="411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09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02A4-ED5D-FC2D-AB05-082F4A1E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7CD004-EBB1-2639-2D67-D9750CAED774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B86E6CE-2466-07CD-857D-3C802DAAFA34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FC7DED8-2304-CBEB-CF12-478C02C84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B37E7F-1B2D-7BD6-37A4-3D2B83A6FBAF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7E3E7D-5507-C6DB-E8E7-D8F219887D7D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305D1F-011C-2DE6-09A9-0233CDA078EE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DF8E1-0701-B409-E056-E8B171F6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288"/>
          <a:stretch>
            <a:fillRect/>
          </a:stretch>
        </p:blipFill>
        <p:spPr>
          <a:xfrm>
            <a:off x="584653" y="1005446"/>
            <a:ext cx="5080375" cy="5324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3A818D-B393-0BF3-447D-5916A6E98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063" b="45357"/>
          <a:stretch>
            <a:fillRect/>
          </a:stretch>
        </p:blipFill>
        <p:spPr>
          <a:xfrm>
            <a:off x="5904978" y="1005445"/>
            <a:ext cx="5702370" cy="532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9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4F79-6CAC-1EB3-FFFD-045F14E41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D7463F-BD91-10D0-C9F5-18BBA50A4ACA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A6463D6-FFF4-A2FF-36B8-64C9F5EA37C8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3163495-C867-D2E7-2897-FE7FA544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729B8B-6329-2E9B-B3FD-4F9FEB095D2F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84FED-EAA5-568F-B05E-58F38A164B1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19AF4-0186-7C8A-A30F-1C1BC18D88AA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A7F924-F0AA-5B0C-C361-FD8552908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818" b="19776"/>
          <a:stretch>
            <a:fillRect/>
          </a:stretch>
        </p:blipFill>
        <p:spPr>
          <a:xfrm>
            <a:off x="230190" y="842057"/>
            <a:ext cx="5865809" cy="54391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D5F9AC-3B30-4578-E8EE-BFD60A93EF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749"/>
          <a:stretch>
            <a:fillRect/>
          </a:stretch>
        </p:blipFill>
        <p:spPr>
          <a:xfrm>
            <a:off x="5884190" y="2270125"/>
            <a:ext cx="5571844" cy="401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01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FF63-ADE8-3362-6A8B-2B577163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5E958B-F3A9-B44C-A5C3-EB0DA18B1A85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4BE57B-432D-6F9A-CE66-718E43A80634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Category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FC915FC-F3EB-24A0-C288-57CBBDAB0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B4496C6-5639-3E33-3810-0C8F44429548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6898E6-0C46-1452-E6A4-50D5A333B615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44507-C4DA-C8BD-4838-28EB66080627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624FC0-8B77-2E2B-636B-3B59B8207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13" y="1265011"/>
            <a:ext cx="9237725" cy="431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9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4320-9333-087C-EB3E-EDDFFBEE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F4B2BB8-366F-C278-0E18-E737024690A3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AD88601-0856-9FB6-BF8C-D4565E7070FC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45FF318-438B-4545-CE20-9D0DA9EC3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7B8EF1-06E8-28CE-C9C1-EDD85B402D4B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83BB57-C4BB-9042-E789-114A5E6FE237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62836A-7BBC-1272-8F36-760EF9D48D57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6346A2-FBD4-65AA-9945-FBFEC2395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13" y="1236966"/>
            <a:ext cx="9237726" cy="437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78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30B5-98A1-3B25-38BF-0318154C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A823B6-E87C-3F77-0C85-9092B04F245D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6BFC12-9AD6-324E-B6AD-9B6E5DDDA6C6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9330123D-EEEF-57D0-9FB4-86C4AB4C2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A0EA51-291B-A2AA-C355-B687EAAE6BB9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313869-FB0E-0965-8CE0-31A8F28302F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9FF842-67F9-42E9-99AB-7C9F87ACFF20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D1F185-813B-A6A3-B21C-388C18FA01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348"/>
          <a:stretch>
            <a:fillRect/>
          </a:stretch>
        </p:blipFill>
        <p:spPr>
          <a:xfrm>
            <a:off x="1440732" y="713407"/>
            <a:ext cx="9276730" cy="586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9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F810-CC5D-1C73-08A4-8E9125D5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B4087F-23A6-1CD0-FAA6-D27053B33398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BF2368E-3715-AB19-3437-A2C52BCA52FD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DD42597-8544-4D1E-25F0-B661DAE3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3FB306-0120-C737-CEFC-6CC4714A46A9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D5937D-9CEE-6CB8-B0F5-B1B176873FF7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B02D78-6965-646D-375A-92F367FE9807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1F3E41-051D-2BAE-B84D-F5719A97F4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651"/>
          <a:stretch>
            <a:fillRect/>
          </a:stretch>
        </p:blipFill>
        <p:spPr>
          <a:xfrm>
            <a:off x="738842" y="1321307"/>
            <a:ext cx="10714316" cy="421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01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EB24-4ACA-BB4D-4245-B9364F6D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C0F1EC7-83EF-0391-0D85-814D951A07C0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A027D9-590A-2118-F15E-6ABFEE725222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C700C6D-4882-EE97-E3BB-47CFBA0B9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91988B-642F-22FC-36D4-09EFD35CA8A4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26ACBD-9AC2-C1AA-47E4-91211839BCF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F1C81F-9268-A5B6-1EDA-9D457892766D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371451-6877-76FD-F1F6-285DB70559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113"/>
          <a:stretch>
            <a:fillRect/>
          </a:stretch>
        </p:blipFill>
        <p:spPr>
          <a:xfrm>
            <a:off x="625702" y="651530"/>
            <a:ext cx="5263034" cy="56780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CD73E0-A02E-44E3-49B2-4A6E5973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887" b="45357"/>
          <a:stretch>
            <a:fillRect/>
          </a:stretch>
        </p:blipFill>
        <p:spPr>
          <a:xfrm>
            <a:off x="6096000" y="1267115"/>
            <a:ext cx="5263033" cy="506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17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E64E-0ED0-9E82-B7BF-77285375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F11A90-F1F7-9A47-90A2-C8F83E19A2E7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A1C0A81-218E-AEB7-42E9-2A9FA767E1C6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Analizarea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pietii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0BD6B5A-DA9C-0D90-CB8D-2FF27D00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CBD445A-ABEB-368A-CCEB-7A2428C63D2E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FE6006-B28E-0F0F-38ED-244863A49D6E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B1C27-CDDC-87E2-A93C-6C7AAF24A6ED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956C9-2639-70E4-8E92-CD9BE543F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818" b="19251"/>
          <a:stretch>
            <a:fillRect/>
          </a:stretch>
        </p:blipFill>
        <p:spPr>
          <a:xfrm>
            <a:off x="433678" y="845995"/>
            <a:ext cx="5662322" cy="54835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607E7C-0A92-02A9-FF55-22D3D1E636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574"/>
          <a:stretch>
            <a:fillRect/>
          </a:stretch>
        </p:blipFill>
        <p:spPr>
          <a:xfrm>
            <a:off x="6096000" y="2203229"/>
            <a:ext cx="5662322" cy="410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15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DD20-3C5B-6247-152B-E37F0C27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8B24F0-A839-CD7C-A637-F2369C43A2EB}"/>
              </a:ext>
            </a:extLst>
          </p:cNvPr>
          <p:cNvSpPr/>
          <p:nvPr/>
        </p:nvSpPr>
        <p:spPr>
          <a:xfrm>
            <a:off x="-1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A6C4CF3-0837-E4AD-C01F-BFC1A02F5301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Recommendation System 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66F8F3F7-0036-55F8-A9E2-F4A13600E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B6629B-3357-36A8-43AC-53F9C352AC1D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9D29FF-E734-2C64-C0D4-96D3E29F1FA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15B34-2BE0-FB21-69AB-563E1734DEAB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CDDA5E-4147-10A4-8024-39DE3B857BBA}"/>
              </a:ext>
            </a:extLst>
          </p:cNvPr>
          <p:cNvSpPr txBox="1"/>
          <p:nvPr/>
        </p:nvSpPr>
        <p:spPr>
          <a:xfrm>
            <a:off x="1397634" y="4282414"/>
            <a:ext cx="10058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“all-MiniLM-L6-v2” Model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pentru a înțelege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descrierea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jocului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doar pe baza de cuvinte dar pe baza de context ș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 embeddings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 sunt folosite in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err="1"/>
              <a:t>cosine_similarity</a:t>
            </a:r>
            <a:r>
              <a:rPr lang="en-US" dirty="0"/>
              <a:t>()”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10F0-8825-3391-AE80-636FD9F41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204" y="1336890"/>
            <a:ext cx="7811590" cy="28197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7422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B68C8-56F1-C824-7B98-52CCBE34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70B3B8-C946-48A3-E0B1-F900769E7E66}"/>
              </a:ext>
            </a:extLst>
          </p:cNvPr>
          <p:cNvSpPr/>
          <p:nvPr/>
        </p:nvSpPr>
        <p:spPr>
          <a:xfrm>
            <a:off x="-1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0FF54B-4440-0BD5-4A3F-2DC077850937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System 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DE332CD3-9DFA-EC17-AB91-012F7FA1B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32E743C-EE05-BDB7-EDE8-E0837174A221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606278-1117-99F4-9BFA-3B4A2FF09783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0E40E-6CDE-3C68-51C3-2E2B92A003AD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A1227-884E-1B3F-2625-AFCB94B56A3A}"/>
              </a:ext>
            </a:extLst>
          </p:cNvPr>
          <p:cNvSpPr txBox="1"/>
          <p:nvPr/>
        </p:nvSpPr>
        <p:spPr>
          <a:xfrm>
            <a:off x="839787" y="938157"/>
            <a:ext cx="10616247" cy="136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Courier New" panose="02070309020205020404" pitchFamily="49" charset="0"/>
              </a:rPr>
              <a:t>Text = a dark-fantasy, third-person action RPG that blends high-stakes, rewarding combat with total open-world freedom. Rejecting modern "hand-holding" mechanics like quest markers, the game relies entirely on player curiosity to navigate a massive, interconnected realm filled with hidden secrets and brutal bosses. With an incredibly deep customization system allowing players to mix magic, melee, and stealth, it delivers a masterclass in atmospheric exploration where every victory feels earned and every discovery feels organic.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DA101-F889-3524-4B01-B96053FE1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834" y="2555375"/>
            <a:ext cx="9164329" cy="27721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9904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6662-3F34-23F2-C48F-B62FC08A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C5827D-8244-B96F-FCBE-7817EFC25F9B}"/>
              </a:ext>
            </a:extLst>
          </p:cNvPr>
          <p:cNvSpPr/>
          <p:nvPr/>
        </p:nvSpPr>
        <p:spPr>
          <a:xfrm>
            <a:off x="-1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376640D-05F1-E90F-0360-2890EBC1BED9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7261994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System </a:t>
            </a:r>
          </a:p>
        </p:txBody>
      </p:sp>
      <p:pic>
        <p:nvPicPr>
          <p:cNvPr id="11" name="Picture 10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FAD8D42-22E4-35B9-E58B-FC5C7AC38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91D9C7-7F00-C525-0AC2-93E4E6B754FE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037F38-F64E-ED12-32DE-5BCD81810208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65311-C721-56AA-0B5A-507D4AF8E4BC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E01CD-8911-2FCE-1FF4-B845429A8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61"/>
          <a:stretch>
            <a:fillRect/>
          </a:stretch>
        </p:blipFill>
        <p:spPr>
          <a:xfrm>
            <a:off x="1790098" y="818388"/>
            <a:ext cx="8611802" cy="55042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1033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D7A13-EECC-BCF3-C021-4BC1C435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42E58A-C693-25F5-6C94-AE21F75DA0C5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F5D89E-2D8F-9180-1459-B14CD9072549}"/>
              </a:ext>
            </a:extLst>
          </p:cNvPr>
          <p:cNvSpPr txBox="1">
            <a:spLocks/>
          </p:cNvSpPr>
          <p:nvPr/>
        </p:nvSpPr>
        <p:spPr>
          <a:xfrm>
            <a:off x="839787" y="0"/>
            <a:ext cx="5256213" cy="566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Concluzia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18007-D7F3-D88D-60CE-6CA299E28183}"/>
              </a:ext>
            </a:extLst>
          </p:cNvPr>
          <p:cNvSpPr txBox="1">
            <a:spLocks/>
          </p:cNvSpPr>
          <p:nvPr/>
        </p:nvSpPr>
        <p:spPr>
          <a:xfrm>
            <a:off x="1429867" y="1928608"/>
            <a:ext cx="9332265" cy="32862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Pe steam market nu exist</a:t>
            </a:r>
            <a:r>
              <a:rPr lang="ro-RO" sz="2000" dirty="0"/>
              <a:t>ă blind spots, un produs trebuie să fie cu adevărat bun pentru a fi competitv. Ideea de a avea prețuri mici nu garantează succesul și exită mereu competiție pentru orice idee ai avea. Prioritatea ar fi ca jocul să fie </a:t>
            </a:r>
            <a:r>
              <a:rPr lang="en-US" sz="2000" dirty="0"/>
              <a:t>“fun”, </a:t>
            </a:r>
            <a:r>
              <a:rPr lang="ro-RO" sz="2000" dirty="0"/>
              <a:t> abilitatea de </a:t>
            </a:r>
            <a:r>
              <a:rPr lang="en-US" sz="2000" dirty="0"/>
              <a:t>“Cheating” s</a:t>
            </a:r>
            <a:r>
              <a:rPr lang="ro-RO" sz="2000" dirty="0"/>
              <a:t>ă fie cat mai mult descurajată și prețul trebuie să fie doar competitiv, un produs bun va fi cumpărat și apreciat. 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0697E6F0-9BB2-3C76-3F9E-F3ADB8C01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F69211-8728-7747-C1E2-752DD4F68482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10CE6-E6C5-2DBC-217F-4F1D26493491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4E8257-9C0A-1078-CA67-0253AC26002A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332893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792</Words>
  <Application>Microsoft Office PowerPoint</Application>
  <PresentationFormat>Widescreen</PresentationFormat>
  <Paragraphs>105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Caladea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ciumacenco</dc:creator>
  <cp:lastModifiedBy>victor ciumacenco</cp:lastModifiedBy>
  <cp:revision>19</cp:revision>
  <dcterms:created xsi:type="dcterms:W3CDTF">2026-06-09T21:26:41Z</dcterms:created>
  <dcterms:modified xsi:type="dcterms:W3CDTF">2026-06-15T11:02:24Z</dcterms:modified>
</cp:coreProperties>
</file>